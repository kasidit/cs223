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7"/>
  </p:notesMasterIdLst>
  <p:sldIdLst>
    <p:sldId id="309" r:id="rId3"/>
    <p:sldId id="466" r:id="rId4"/>
    <p:sldId id="260" r:id="rId5"/>
    <p:sldId id="311" r:id="rId6"/>
    <p:sldId id="333" r:id="rId7"/>
    <p:sldId id="312" r:id="rId8"/>
    <p:sldId id="313" r:id="rId9"/>
    <p:sldId id="314" r:id="rId10"/>
    <p:sldId id="316" r:id="rId11"/>
    <p:sldId id="317" r:id="rId12"/>
    <p:sldId id="318" r:id="rId13"/>
    <p:sldId id="319" r:id="rId14"/>
    <p:sldId id="320" r:id="rId15"/>
    <p:sldId id="321" r:id="rId16"/>
    <p:sldId id="323" r:id="rId17"/>
    <p:sldId id="334" r:id="rId18"/>
    <p:sldId id="387" r:id="rId19"/>
    <p:sldId id="469" r:id="rId20"/>
    <p:sldId id="492" r:id="rId21"/>
    <p:sldId id="491" r:id="rId22"/>
    <p:sldId id="493" r:id="rId23"/>
    <p:sldId id="494" r:id="rId24"/>
    <p:sldId id="367" r:id="rId25"/>
    <p:sldId id="495" r:id="rId26"/>
    <p:sldId id="496" r:id="rId27"/>
    <p:sldId id="358" r:id="rId28"/>
    <p:sldId id="375" r:id="rId29"/>
    <p:sldId id="463" r:id="rId30"/>
    <p:sldId id="462" r:id="rId31"/>
    <p:sldId id="372" r:id="rId32"/>
    <p:sldId id="497" r:id="rId33"/>
    <p:sldId id="377" r:id="rId34"/>
    <p:sldId id="380" r:id="rId35"/>
    <p:sldId id="381" r:id="rId36"/>
    <p:sldId id="464" r:id="rId37"/>
    <p:sldId id="412" r:id="rId38"/>
    <p:sldId id="413" r:id="rId39"/>
    <p:sldId id="470" r:id="rId40"/>
    <p:sldId id="324" r:id="rId41"/>
    <p:sldId id="325" r:id="rId42"/>
    <p:sldId id="326" r:id="rId43"/>
    <p:sldId id="336" r:id="rId44"/>
    <p:sldId id="388" r:id="rId45"/>
    <p:sldId id="389" r:id="rId46"/>
    <p:sldId id="340" r:id="rId47"/>
    <p:sldId id="390" r:id="rId48"/>
    <p:sldId id="391" r:id="rId49"/>
    <p:sldId id="341" r:id="rId50"/>
    <p:sldId id="342" r:id="rId51"/>
    <p:sldId id="393" r:id="rId52"/>
    <p:sldId id="343" r:id="rId53"/>
    <p:sldId id="344" r:id="rId54"/>
    <p:sldId id="394" r:id="rId55"/>
    <p:sldId id="365" r:id="rId56"/>
    <p:sldId id="366" r:id="rId57"/>
    <p:sldId id="368" r:id="rId58"/>
    <p:sldId id="369" r:id="rId59"/>
    <p:sldId id="370" r:id="rId60"/>
    <p:sldId id="371" r:id="rId61"/>
    <p:sldId id="373" r:id="rId62"/>
    <p:sldId id="374" r:id="rId63"/>
    <p:sldId id="411" r:id="rId64"/>
    <p:sldId id="349" r:id="rId65"/>
    <p:sldId id="350" r:id="rId66"/>
    <p:sldId id="351" r:id="rId67"/>
    <p:sldId id="395" r:id="rId68"/>
    <p:sldId id="352" r:id="rId69"/>
    <p:sldId id="476" r:id="rId70"/>
    <p:sldId id="472" r:id="rId71"/>
    <p:sldId id="473" r:id="rId72"/>
    <p:sldId id="474" r:id="rId73"/>
    <p:sldId id="475" r:id="rId74"/>
    <p:sldId id="354" r:id="rId75"/>
    <p:sldId id="465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25" autoAdjust="0"/>
    <p:restoredTop sz="94660"/>
  </p:normalViewPr>
  <p:slideViewPr>
    <p:cSldViewPr>
      <p:cViewPr varScale="1">
        <p:scale>
          <a:sx n="113" d="100"/>
          <a:sy n="113" d="100"/>
        </p:scale>
        <p:origin x="10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D27B1-DBF1-40BF-9130-EF7796308355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040BF-3AB4-4DAC-8A16-403E7E8725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59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55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5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0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4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43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00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57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040BF-3AB4-4DAC-8A16-403E7E87254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CS348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913EB-B56E-4A0A-B89E-8532DFF7B178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4644E-FB97-42E4-9EAE-54F8F46A2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D:\website\website_data\vasabi_img\vasabi_header2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400800" y="228601"/>
            <a:ext cx="2514599" cy="734276"/>
          </a:xfrm>
          <a:prstGeom prst="rect">
            <a:avLst/>
          </a:prstGeom>
          <a:noFill/>
        </p:spPr>
      </p:pic>
      <p:pic>
        <p:nvPicPr>
          <p:cNvPr id="8" name="Picture 7" descr="cstulogo.jp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28599" y="228600"/>
            <a:ext cx="2028093" cy="76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E8AA1-F439-4ADE-8419-013B4A3FA54C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741FB-385A-4D05-9855-3837C79C3DB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086600" y="228600"/>
            <a:ext cx="1905000" cy="557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cstulogo.jp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28600" y="228600"/>
            <a:ext cx="1676400" cy="6298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vidia.com/en-us/data-center/grace-cpu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tomshardware.com/news/intel-xeon-sapphire-rapids-ws-specs-leaked-up-to-56-cores-350w-td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Epyc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752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CS223 </a:t>
            </a:r>
            <a:br>
              <a:rPr lang="en-US" sz="40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en-US" sz="40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Lecture 03: System Virtual Machines -- CPU Virtualization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>
                <a:solidFill>
                  <a:schemeClr val="tx1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Kasidit</a:t>
            </a:r>
            <a:r>
              <a:rPr lang="en-US" dirty="0">
                <a:solidFill>
                  <a:schemeClr val="tx1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Chanchio</a:t>
            </a:r>
            <a:endParaRPr lang="en-US" dirty="0">
              <a:solidFill>
                <a:schemeClr val="tx1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  <a:p>
            <a:r>
              <a:rPr lang="en-US" dirty="0">
                <a:solidFill>
                  <a:schemeClr val="tx1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Department of Computer Science,</a:t>
            </a:r>
          </a:p>
          <a:p>
            <a:r>
              <a:rPr lang="en-US" dirty="0">
                <a:solidFill>
                  <a:schemeClr val="tx1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Faculty of Science and Technology,</a:t>
            </a:r>
          </a:p>
          <a:p>
            <a:r>
              <a:rPr lang="en-US" dirty="0">
                <a:solidFill>
                  <a:schemeClr val="tx1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Thammasat University</a:t>
            </a:r>
          </a:p>
          <a:p>
            <a:r>
              <a:rPr lang="en-US" dirty="0">
                <a:solidFill>
                  <a:schemeClr val="tx1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1st Semester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6DFB-5F06-2F49-19DD-057FC4C7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Trends: CPUs for Cloud Data Center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1554-95A6-A5FF-3BEA-31F1D5E68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0487"/>
            <a:ext cx="8229600" cy="4525963"/>
          </a:xfrm>
        </p:spPr>
        <p:txBody>
          <a:bodyPr/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CPU </a:t>
            </a:r>
            <a:r>
              <a:rPr lang="en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ะ</a:t>
            </a:r>
            <a:r>
              <a:rPr lang="th-TH" dirty="0">
                <a:latin typeface="Dreaming Outloud Pro" panose="03050502040302030504" pitchFamily="66" charset="77"/>
              </a:rPr>
              <a:t>มี 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Cores </a:t>
            </a:r>
            <a:r>
              <a:rPr lang="th-TH" dirty="0">
                <a:latin typeface="Dreaming Outloud Pro" panose="03050502040302030504" pitchFamily="66" charset="77"/>
              </a:rPr>
              <a:t>เพิ่มมากขึ้น 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774FD-C936-013B-43AB-BAA8C85D9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92" y="2006744"/>
            <a:ext cx="2558236" cy="3333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65F29-27DD-1981-4958-734C6B238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3" y="5562761"/>
            <a:ext cx="7772400" cy="83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87671A-060F-3497-A872-D108A8EC80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9"/>
          <a:stretch/>
        </p:blipFill>
        <p:spPr>
          <a:xfrm>
            <a:off x="3803649" y="3840623"/>
            <a:ext cx="3725275" cy="1297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5BE968-338A-69EA-3442-EA9499D3F3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650" y="1947521"/>
            <a:ext cx="3725274" cy="13595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3A0F6A-2E7A-534F-9373-E8B8185FEA6E}"/>
              </a:ext>
            </a:extLst>
          </p:cNvPr>
          <p:cNvSpPr txBox="1"/>
          <p:nvPr/>
        </p:nvSpPr>
        <p:spPr>
          <a:xfrm>
            <a:off x="582473" y="6385481"/>
            <a:ext cx="271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  <a:hlinkClick r:id="rId6"/>
              </a:rPr>
              <a:t>https://en.wikipedia.org/wiki/Epyc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665D4C-1224-C5A2-E2D7-02AA4FBB92DD}"/>
              </a:ext>
            </a:extLst>
          </p:cNvPr>
          <p:cNvSpPr txBox="1"/>
          <p:nvPr/>
        </p:nvSpPr>
        <p:spPr>
          <a:xfrm>
            <a:off x="3834128" y="3291054"/>
            <a:ext cx="50812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  <a:hlinkClick r:id="rId7"/>
              </a:rPr>
              <a:t>https://www.tomshardware.com/news/intel-xeon-sapphire-rapids-ws-specs-leaked-up-to-56-cores-350w-tdp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A317AD-9818-52E6-5FC7-B382A9FAE74F}"/>
              </a:ext>
            </a:extLst>
          </p:cNvPr>
          <p:cNvSpPr txBox="1"/>
          <p:nvPr/>
        </p:nvSpPr>
        <p:spPr>
          <a:xfrm>
            <a:off x="3834128" y="5165686"/>
            <a:ext cx="4166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  <a:hlinkClick r:id="rId8"/>
              </a:rPr>
              <a:t>https://www.nvidia.com/en-us/data-center/grace-cpu/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1358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Dreaming Outloud Pro" panose="03050502040302030504" pitchFamily="66" charset="77"/>
                <a:ea typeface="MS UI Gothic" panose="020B0600070205080204" pitchFamily="34" charset="-128"/>
                <a:cs typeface="Dreaming Outloud Pro" panose="03050502040302030504" pitchFamily="66" charset="77"/>
              </a:rPr>
              <a:t>Usages </a:t>
            </a:r>
          </a:p>
          <a:p>
            <a:r>
              <a:rPr lang="en-US" b="1" dirty="0">
                <a:latin typeface="Dreaming Outloud Pro" panose="03050502040302030504" pitchFamily="66" charset="77"/>
                <a:ea typeface="MS UI Gothic" panose="020B0600070205080204" pitchFamily="34" charset="-128"/>
                <a:cs typeface="Dreaming Outloud Pro" panose="03050502040302030504" pitchFamily="66" charset="77"/>
              </a:rPr>
              <a:t>Theory</a:t>
            </a:r>
          </a:p>
          <a:p>
            <a:r>
              <a:rPr lang="en-US" b="1" dirty="0">
                <a:latin typeface="Dreaming Outloud Pro" panose="03050502040302030504" pitchFamily="66" charset="77"/>
                <a:ea typeface="MS UI Gothic" panose="020B0600070205080204" pitchFamily="34" charset="-128"/>
                <a:cs typeface="Dreaming Outloud Pro" panose="03050502040302030504" pitchFamily="66" charset="77"/>
              </a:rPr>
              <a:t>Processor Virtualization (Software-based)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Virtual machine monitor (VMM)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(หรือ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Hypervisor)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software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ที่บริหารจัดการ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resources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บนเครื่อง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computer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เพื่อให้บริการๆประมวลผลของ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VMs</a:t>
            </a:r>
            <a:endParaRPr lang="th-TH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endParaRPr lang="en-US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434057"/>
            <a:ext cx="4621327" cy="283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06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เนื่องจาก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มักจะ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Idle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เป็นส่วนใหญ่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เป็น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software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ที่ช่วยลด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Idle time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โดยการรัน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หลายๆ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พร้อมๆกัน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เรานิยาม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ให้หมายถึงเครื่องคอมพิวเตอร์จริง 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นิยาม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Virtual Machine (VM)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ว่าเป็นการประมวลผลของเครื่องคอมพิวเตอร์เสมือนเครื่องหนึ่งๆซึ่งประกอบไปด้วย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Guest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หมายถึง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Operating System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Applications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หมายถึง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Application Processes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</a:t>
            </a:r>
          </a:p>
          <a:p>
            <a:endParaRPr lang="en-US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38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Usages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7244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Multiprogramming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ในระดับ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VM: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คือการที่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หลาย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สามารถ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Share Resources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ด้วยการทำ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context switching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Multiple secure environments (sandbox): Apps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ที่รันอยู่ใน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แต่ละเครื่องมี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และสภาพแวดล้อมของตนเอง ไม่สามารถเข้าถึงได้โดยตรงจาก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ของเครื่อง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Managed App Environments: Apps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สามารถรันพร้อมกับสภาพแวดล้อมที่เหมาะสมได้เลยเนื่องจาก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นั้นอาจได้รับการพัฒนามาบน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ใด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หนึ่ง เช่น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Ubuntu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Windows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versions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configuration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เฉพาะ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Mixed-OS environments: Host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เครื่องเดียวสามารถรัน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VMs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ที่แต่ละ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ที่แตกต่างกันได้ในขณะเดียวกัน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Multiple Single-Application VMs: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สามารถกำหนดให้แต่ละ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เดียวได้ เพื่อเพิ่มประสิทธิภาพในการทำงานของ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(อาจไม่มี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ก็ได้)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e.g.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unikernel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93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Usages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Legacy Apps: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สมัยเก่าที่ต้องใช้สภาพแวดล้อมเก่าๆ 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Multiplatform App Developments: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บนเครื่องเก่า สามารถสร้าง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รันสภาพแวดล้อมใหม่เพื่อพัฒนา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SW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สำหรับอนาคตได้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New System transition: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สามารถทดสอบการติดตั้งและใช้งานระบบใหม่บน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ได้ก่อนที่จะย้ายไปบนเครื่องจริง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software development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สามารถพัฒนา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features: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ใหม่ๆได้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training: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ใช้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เพื่อสอน นศ และพนักงานให้รู้จักใช้งาน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ใหม่ๆ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Help Desk supports: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ใช้ทดสอบสภาพแวดล้อมของเครื่องลูกค้าเพื่อแก้ปัญหาบางอย่างทางไกล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instrumentation: VMM can instrument access to resources of OS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สามารถใช้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เก็บสถิติการใช้ง่น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resource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เพื่อดูพฤติกรรมของ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</a:t>
            </a: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1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Usages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Event monitoring for logging trace of execution: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เนื่องจาก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เป็น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software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มันจึงสามารถ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log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คำสั่งที่มันประมวลผลได้ เราสามารถนำ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log file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มาใช้วิเคราะห์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bug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ที่รันยน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 โดยการ </a:t>
            </a:r>
            <a:r>
              <a:rPr lang="th-TH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ย้อนกลับ </a:t>
            </a:r>
            <a:r>
              <a:rPr lang="en-US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(replay)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การทำงานของคำสั่งเหล่านั้นทีละคำสั่ง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encapsulation: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สามารถเก็บสถานะการทำงานของ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ด้วยการรวบรวมข้อมูลของ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context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disk image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ณ. ขณะใดขณะหนึ่ง แล้วเก็บไว้เพื่อเริ่มการทำงานใหม่ หรือย้ายสถานที่เพื่อรันบน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เครื่องใหม่ได้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เราสามารถเปลี่ยนการประมวลผลของ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เป็นข้อมูลสถานะ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(state)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เราสามารถข้อมูลสถานะนั้นกลับมาเป็นการประมวลผลของ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endParaRPr lang="en-US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7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Single System Illusion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>
            <a:normAutofit/>
          </a:bodyPr>
          <a:lstStyle/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เราพยายามสร้างภาพลวงว่าคอมพิวเตอร์เป็นของผู้ใช้คนเดียว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ยกตัวอย่างเช่น การรัน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DOS window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บนเครื่อง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windows 10 </a:t>
            </a:r>
            <a:r>
              <a:rPr lang="en-US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  </a:t>
            </a: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050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94799"/>
            <a:ext cx="5181600" cy="333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2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Context switching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ของข้อมูลสถานะของ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(VM state)</a:t>
            </a:r>
            <a:endParaRPr lang="th-TH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การสลับการทำงานของ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ต้องมีการทำ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Context Switching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State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ถูกเก็บใน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memory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State indirection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v.s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. State copying</a:t>
            </a: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405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State </a:t>
            </a:r>
            <a:b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58" y="2286000"/>
            <a:ext cx="8577684" cy="38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1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State </a:t>
            </a:r>
            <a:b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Copying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53" y="1833449"/>
            <a:ext cx="8763670" cy="429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5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Resource </a:t>
            </a:r>
            <a:b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ถึงแม้ว่าเวลาในการทำ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context switching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Copying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จะมากกว่าการ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Indirection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เนื่องจากต้อง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copy contexts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แต่การทำงานในช่วง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 slice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จะมีประสิทธิภาพมากกว่าเพราะประมวลผลบน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registers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โดยตรงไม่ต้อง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Access memory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ตลอดเวลา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จำเป็นต้องใช้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timer interrupt to perform context switching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ระหว่าง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VMs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ต้องไม่ให้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set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ค่า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Hardware Timer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ได้เองเพราะอาจทำให้เกิดความไม่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fare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อื่นดังนั้น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ต้องจำลอง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emulates Virtual Interrupt timer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ให้กับแต่ละ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   </a:t>
            </a: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866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Resource </a:t>
            </a:r>
            <a:b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170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6" y="1600200"/>
            <a:ext cx="7412179" cy="184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3810000"/>
            <a:ext cx="86106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switch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จะกลับมาใช้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ด้วย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Timer Interrupt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จะเก็ย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State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ก่อนหน้าและเลือกว่าจะนำ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ใดมารันต่อ 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จะต้องพิจารณาว่าจะ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set Timer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ใหม่อย่างไร และ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ถ้ารอบก่อนหน้าของ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ใหม่ไม่เกิด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Virtual Timer Interrupt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ก็ให้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restore VM state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และปล่อยให้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ใหม่รันต่อจากเดิม หรือ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ไม่เช่นนั้นก็ กำหนดค่า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PC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ให้ชี้ไปที่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Timer Interrupt handler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ใหม่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40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Native vs. Hosted VMs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2290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8161578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93147" y="5354618"/>
            <a:ext cx="31630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e.g.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Device Driver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ที่ทำให้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สามารถรัน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Instructions </a:t>
            </a: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ได้เร็วขึ้น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00848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Native vs. Hosted 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แบบ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Native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(หรือ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Classic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)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กำหนดให้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‘s Instruction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โดยตรง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แบบ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Hosted VM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ต้อง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scan VM’s instructions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Interpret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Translate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หรือทั้งสองอย่าง เพื่อประมวลผล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แบบ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Dual-Mode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สามารถส่ง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VM’s instructions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ผ่าน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Special Device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Host OS kernel extension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VM’s Instructions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ส่วนใหญ่ได้โดยตรง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39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IBM system 360 and 370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Popek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Goldberg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ได้เขียน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paper “Formal Requirements for Virtualizable Third Generation Architectures”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ซึ่งถูกใช้เป็นแนวทางออกแบบ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ISA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เพื่อสนับสนุน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Virtualization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ในปี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1965 IBM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สร้างระบบ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Native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เพื่อให้บริการ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ISA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แทนที่จะเป็น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ABI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IBM System 360 model 40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เนื่องจาก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ISA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ทำให้มีการ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Isolation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ระหว่าง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มากกว่า และ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ทำให้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IBM 360 model 40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มีความ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portability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คือสามารถรัน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software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ในตระกูล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360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ที่ถูกพัฒนาขึ้นก่อนหน้าได้ 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IBM 370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IBM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พัฒนา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Native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เรียกว่า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Control Program (CP)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และพัฒนา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single-user Guest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ชื่อว่า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Conversational Monitor System (CMS)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เพื่อรันบน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CP.  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IBM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พัฒนา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Hardware supports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สำหรับ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virtualization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IBM 370. </a:t>
            </a: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321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D6A63-ADBE-915F-BABA-0F33ED92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2019300"/>
          </a:xfrm>
        </p:spPr>
        <p:txBody>
          <a:bodyPr>
            <a:normAutofit fontScale="90000"/>
          </a:bodyPr>
          <a:lstStyle/>
          <a:p>
            <a:r>
              <a:rPr lang="th-TH" dirty="0">
                <a:latin typeface="Dreaming Outloud Pro" panose="03050502040302030504" pitchFamily="66" charset="77"/>
                <a:cs typeface="TH SarabunPSK" panose="020B0500040200020003" pitchFamily="34" charset="-34"/>
              </a:rPr>
              <a:t>ทบทวนการทำงานของ </a:t>
            </a:r>
            <a:b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th-TH" dirty="0">
                <a:latin typeface="Dreaming Outloud Pro" panose="03050502040302030504" pitchFamily="66" charset="77"/>
                <a:cs typeface="TH SarabunPSK" panose="020B0500040200020003" pitchFamily="34" charset="-34"/>
              </a:rPr>
              <a:t>ระบบคอมพิวเตอร์แบบ 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Multiprogramming: </a:t>
            </a:r>
            <a:b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OS, CPU, Interrupts</a:t>
            </a:r>
            <a:endParaRPr lang="en-TH" b="1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00492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0038"/>
            <a:ext cx="7924800" cy="4525963"/>
          </a:xfrm>
        </p:spPr>
        <p:txBody>
          <a:bodyPr>
            <a:normAutofit fontScale="92500"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ผู้ออกแบบซีพียูและระบบคอมพิวเตอร์ มีนิยามของรายการของเหตุการณ์ที่สามารถเกิดขึ้นได้และตรวจจับเพื่อตอบสนองได้ในระหว่างที่ระบบคอมพิวเตอร์ฮาร์ดแวร์และซอฟต์แวร์ประมวลผล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อย่างชัดเจน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จำนวนหนึ่ง 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แต่ละเหตุการณ์มีหมายเลขกำหนดอย่างชัดเจน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โอแสเคอร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์เ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นิล ประกอบไปด้วย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สำหรับจัดการเหตุการณ์เหล่านั้นเรียกว่า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Interrupt/Trap handlers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เรียกใช้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เมื่อเกิดเหตุการณ์ขึ้น จะมีคนตะโกนแจ้ง (ส่งสัญญาณ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Interrupts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ซีพียูและซีพียูจะหันมาให้ความสนใจ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OS </a:t>
            </a:r>
            <a:r>
              <a:rPr lang="th-TH" dirty="0">
                <a:latin typeface="Dreaming Outloud Pro" panose="03050502040302030504" pitchFamily="66" charset="77"/>
                <a:cs typeface="TH SarabunPSK" panose="020B0500040200020003" pitchFamily="34" charset="-34"/>
              </a:rPr>
              <a:t>คือ 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Event-Driven Program </a:t>
            </a:r>
          </a:p>
        </p:txBody>
      </p:sp>
    </p:spTree>
    <p:extLst>
      <p:ext uri="{BB962C8B-B14F-4D97-AF65-F5344CB8AC3E}">
        <p14:creationId xmlns:p14="http://schemas.microsoft.com/office/powerpoint/2010/main" val="1774516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74751A-D23E-2D5F-E083-79800B7ED3D2}"/>
              </a:ext>
            </a:extLst>
          </p:cNvPr>
          <p:cNvSpPr/>
          <p:nvPr/>
        </p:nvSpPr>
        <p:spPr>
          <a:xfrm>
            <a:off x="623695" y="1214718"/>
            <a:ext cx="530431" cy="1479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9F364-BCDD-D4FC-E3EE-94D7614FA0F8}"/>
              </a:ext>
            </a:extLst>
          </p:cNvPr>
          <p:cNvSpPr/>
          <p:nvPr/>
        </p:nvSpPr>
        <p:spPr>
          <a:xfrm>
            <a:off x="1171940" y="1214718"/>
            <a:ext cx="1905000" cy="14791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A38AE9-B80D-04D1-D4EB-6FEA28543B00}"/>
              </a:ext>
            </a:extLst>
          </p:cNvPr>
          <p:cNvSpPr/>
          <p:nvPr/>
        </p:nvSpPr>
        <p:spPr>
          <a:xfrm>
            <a:off x="1295400" y="2426732"/>
            <a:ext cx="35814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Interrupt/trap handlers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D0984-B59F-E932-9137-970269CB0BD2}"/>
              </a:ext>
            </a:extLst>
          </p:cNvPr>
          <p:cNvSpPr/>
          <p:nvPr/>
        </p:nvSpPr>
        <p:spPr>
          <a:xfrm>
            <a:off x="4876799" y="2426732"/>
            <a:ext cx="2982927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System calls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220FB-D64C-9478-87FC-890974F7E83C}"/>
              </a:ext>
            </a:extLst>
          </p:cNvPr>
          <p:cNvSpPr/>
          <p:nvPr/>
        </p:nvSpPr>
        <p:spPr>
          <a:xfrm>
            <a:off x="1527453" y="3171012"/>
            <a:ext cx="16764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CPU Scheduler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F3DC8-92F4-5BAB-2012-338C81E52654}"/>
              </a:ext>
            </a:extLst>
          </p:cNvPr>
          <p:cNvSpPr/>
          <p:nvPr/>
        </p:nvSpPr>
        <p:spPr>
          <a:xfrm>
            <a:off x="3203853" y="3171012"/>
            <a:ext cx="15240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Memory Management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B1ABC2-B1AE-E564-92AA-960F82805EA6}"/>
              </a:ext>
            </a:extLst>
          </p:cNvPr>
          <p:cNvSpPr/>
          <p:nvPr/>
        </p:nvSpPr>
        <p:spPr>
          <a:xfrm>
            <a:off x="4727853" y="3171012"/>
            <a:ext cx="1447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File Management</a:t>
            </a:r>
            <a:endParaRPr lang="en-TH" sz="1600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6FD777-77F9-D131-CD8E-FC23924E5C63}"/>
              </a:ext>
            </a:extLst>
          </p:cNvPr>
          <p:cNvSpPr/>
          <p:nvPr/>
        </p:nvSpPr>
        <p:spPr>
          <a:xfrm>
            <a:off x="6175653" y="3171012"/>
            <a:ext cx="1447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I/O Management</a:t>
            </a:r>
            <a:endParaRPr lang="en-TH" sz="1600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950770-F179-582A-2392-026DDCF26CD9}"/>
              </a:ext>
            </a:extLst>
          </p:cNvPr>
          <p:cNvSpPr/>
          <p:nvPr/>
        </p:nvSpPr>
        <p:spPr>
          <a:xfrm>
            <a:off x="3093764" y="1214718"/>
            <a:ext cx="193963" cy="1479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53C2EA-434D-D865-5128-666F37492705}"/>
              </a:ext>
            </a:extLst>
          </p:cNvPr>
          <p:cNvSpPr/>
          <p:nvPr/>
        </p:nvSpPr>
        <p:spPr>
          <a:xfrm>
            <a:off x="3304551" y="1214718"/>
            <a:ext cx="1905000" cy="14791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E6C8D-E041-F651-42E0-92EDA9278C59}"/>
              </a:ext>
            </a:extLst>
          </p:cNvPr>
          <p:cNvSpPr/>
          <p:nvPr/>
        </p:nvSpPr>
        <p:spPr>
          <a:xfrm>
            <a:off x="5226375" y="1214718"/>
            <a:ext cx="193963" cy="1479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6C3AC5-DE7F-7440-7303-D0C2A753ED8D}"/>
              </a:ext>
            </a:extLst>
          </p:cNvPr>
          <p:cNvSpPr/>
          <p:nvPr/>
        </p:nvSpPr>
        <p:spPr>
          <a:xfrm>
            <a:off x="5441616" y="1210343"/>
            <a:ext cx="1905000" cy="14791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FF9617-0162-68E5-D206-A053386D4ADA}"/>
              </a:ext>
            </a:extLst>
          </p:cNvPr>
          <p:cNvSpPr/>
          <p:nvPr/>
        </p:nvSpPr>
        <p:spPr>
          <a:xfrm>
            <a:off x="7373214" y="1210343"/>
            <a:ext cx="1024244" cy="15666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D4BFE8-474A-05A4-8333-0A5B210168AA}"/>
              </a:ext>
            </a:extLst>
          </p:cNvPr>
          <p:cNvSpPr/>
          <p:nvPr/>
        </p:nvSpPr>
        <p:spPr>
          <a:xfrm>
            <a:off x="1634089" y="1210343"/>
            <a:ext cx="129638" cy="1479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3254C1-DEB9-478C-FF55-1B08FB735B53}"/>
              </a:ext>
            </a:extLst>
          </p:cNvPr>
          <p:cNvSpPr/>
          <p:nvPr/>
        </p:nvSpPr>
        <p:spPr>
          <a:xfrm>
            <a:off x="6692979" y="1203359"/>
            <a:ext cx="129638" cy="1479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33838E-8DCE-A0E5-A5C2-904952B70216}"/>
              </a:ext>
            </a:extLst>
          </p:cNvPr>
          <p:cNvSpPr/>
          <p:nvPr/>
        </p:nvSpPr>
        <p:spPr>
          <a:xfrm>
            <a:off x="2404501" y="1210343"/>
            <a:ext cx="129638" cy="1479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FB2FB9-A4A6-17C8-14D4-2902E738DCE9}"/>
              </a:ext>
            </a:extLst>
          </p:cNvPr>
          <p:cNvSpPr/>
          <p:nvPr/>
        </p:nvSpPr>
        <p:spPr>
          <a:xfrm>
            <a:off x="3954974" y="1210343"/>
            <a:ext cx="129638" cy="1479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2D5CC8-3A21-4CD4-00C2-17427273C2EB}"/>
              </a:ext>
            </a:extLst>
          </p:cNvPr>
          <p:cNvSpPr/>
          <p:nvPr/>
        </p:nvSpPr>
        <p:spPr>
          <a:xfrm>
            <a:off x="6040084" y="1210343"/>
            <a:ext cx="129638" cy="1479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49019-A604-26CE-26A1-1826095E24C6}"/>
              </a:ext>
            </a:extLst>
          </p:cNvPr>
          <p:cNvSpPr/>
          <p:nvPr/>
        </p:nvSpPr>
        <p:spPr>
          <a:xfrm>
            <a:off x="2761751" y="1219093"/>
            <a:ext cx="129638" cy="14791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78C3F0-360B-C50D-3CD3-82125EF6D995}"/>
              </a:ext>
            </a:extLst>
          </p:cNvPr>
          <p:cNvSpPr/>
          <p:nvPr/>
        </p:nvSpPr>
        <p:spPr>
          <a:xfrm>
            <a:off x="4417370" y="1210343"/>
            <a:ext cx="129638" cy="14791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2E7440-57E9-EF69-1712-00901FD1DBDF}"/>
              </a:ext>
            </a:extLst>
          </p:cNvPr>
          <p:cNvSpPr/>
          <p:nvPr/>
        </p:nvSpPr>
        <p:spPr>
          <a:xfrm>
            <a:off x="5688027" y="1219093"/>
            <a:ext cx="129638" cy="14791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9E9598-619D-4774-8887-0C58DBA0D31C}"/>
              </a:ext>
            </a:extLst>
          </p:cNvPr>
          <p:cNvSpPr/>
          <p:nvPr/>
        </p:nvSpPr>
        <p:spPr>
          <a:xfrm>
            <a:off x="7859727" y="1219093"/>
            <a:ext cx="129638" cy="14791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AF9C4A-E94A-1039-B852-4CFBCF6499C4}"/>
              </a:ext>
            </a:extLst>
          </p:cNvPr>
          <p:cNvSpPr/>
          <p:nvPr/>
        </p:nvSpPr>
        <p:spPr>
          <a:xfrm>
            <a:off x="2014471" y="1210343"/>
            <a:ext cx="129638" cy="14791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97CF86-E04A-A9F5-F719-166336B72806}"/>
              </a:ext>
            </a:extLst>
          </p:cNvPr>
          <p:cNvSpPr/>
          <p:nvPr/>
        </p:nvSpPr>
        <p:spPr>
          <a:xfrm>
            <a:off x="7225390" y="1210343"/>
            <a:ext cx="129638" cy="14791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AB7860-BF33-7FFD-A029-898690099F0D}"/>
              </a:ext>
            </a:extLst>
          </p:cNvPr>
          <p:cNvSpPr/>
          <p:nvPr/>
        </p:nvSpPr>
        <p:spPr>
          <a:xfrm>
            <a:off x="8399062" y="1219093"/>
            <a:ext cx="129638" cy="14791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A5CD47-619E-C6B6-7C3E-BBACA23BC688}"/>
              </a:ext>
            </a:extLst>
          </p:cNvPr>
          <p:cNvSpPr/>
          <p:nvPr/>
        </p:nvSpPr>
        <p:spPr>
          <a:xfrm>
            <a:off x="977976" y="4631890"/>
            <a:ext cx="193963" cy="1479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6D1E55-38D2-9CF4-D489-A7E9B8EA283A}"/>
              </a:ext>
            </a:extLst>
          </p:cNvPr>
          <p:cNvSpPr txBox="1"/>
          <p:nvPr/>
        </p:nvSpPr>
        <p:spPr>
          <a:xfrm>
            <a:off x="1497764" y="4114772"/>
            <a:ext cx="2442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User program execution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B6CC83B-45C0-9DA4-BD23-D738D460174D}"/>
              </a:ext>
            </a:extLst>
          </p:cNvPr>
          <p:cNvSpPr/>
          <p:nvPr/>
        </p:nvSpPr>
        <p:spPr>
          <a:xfrm>
            <a:off x="977976" y="4225479"/>
            <a:ext cx="193963" cy="14791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C302A6-7D17-49D2-DEF3-CCB6FBEB7EA2}"/>
              </a:ext>
            </a:extLst>
          </p:cNvPr>
          <p:cNvSpPr txBox="1"/>
          <p:nvPr/>
        </p:nvSpPr>
        <p:spPr>
          <a:xfrm>
            <a:off x="1480192" y="4521183"/>
            <a:ext cx="4207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Timer Interrupt handler/CPU Scheduling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6D163-56AD-E391-B887-86C47FFA6250}"/>
              </a:ext>
            </a:extLst>
          </p:cNvPr>
          <p:cNvSpPr/>
          <p:nvPr/>
        </p:nvSpPr>
        <p:spPr>
          <a:xfrm>
            <a:off x="975251" y="5511549"/>
            <a:ext cx="193963" cy="1479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A31DE7-4064-9B0A-8E32-C4A481C279FC}"/>
              </a:ext>
            </a:extLst>
          </p:cNvPr>
          <p:cNvSpPr txBox="1"/>
          <p:nvPr/>
        </p:nvSpPr>
        <p:spPr>
          <a:xfrm>
            <a:off x="1480194" y="5400842"/>
            <a:ext cx="1596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System Calls 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C812E1-F0BD-7B03-5033-C69DC7CDC04B}"/>
              </a:ext>
            </a:extLst>
          </p:cNvPr>
          <p:cNvSpPr/>
          <p:nvPr/>
        </p:nvSpPr>
        <p:spPr>
          <a:xfrm>
            <a:off x="972275" y="5917960"/>
            <a:ext cx="193963" cy="14791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DA7A1D-60F7-14A4-5BE7-708C78E97AA8}"/>
              </a:ext>
            </a:extLst>
          </p:cNvPr>
          <p:cNvSpPr txBox="1"/>
          <p:nvPr/>
        </p:nvSpPr>
        <p:spPr>
          <a:xfrm>
            <a:off x="1480192" y="5807252"/>
            <a:ext cx="4996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Trap handler e.g. page faults, </a:t>
            </a:r>
            <a:r>
              <a:rPr lang="en-US" dirty="0" err="1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arith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errors, etc.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1DD6FE-91D6-08FC-CAEA-C243E0A61CC6}"/>
              </a:ext>
            </a:extLst>
          </p:cNvPr>
          <p:cNvSpPr/>
          <p:nvPr/>
        </p:nvSpPr>
        <p:spPr>
          <a:xfrm>
            <a:off x="972275" y="5081732"/>
            <a:ext cx="193962" cy="14791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AF44EE-9A94-8EC9-36D5-2BF28F26FEB1}"/>
              </a:ext>
            </a:extLst>
          </p:cNvPr>
          <p:cNvSpPr txBox="1"/>
          <p:nvPr/>
        </p:nvSpPr>
        <p:spPr>
          <a:xfrm>
            <a:off x="1480192" y="4972364"/>
            <a:ext cx="2937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I/O interrupt handlers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868638-2E27-1557-EB18-8345A4968573}"/>
              </a:ext>
            </a:extLst>
          </p:cNvPr>
          <p:cNvSpPr/>
          <p:nvPr/>
        </p:nvSpPr>
        <p:spPr>
          <a:xfrm>
            <a:off x="1303180" y="3036331"/>
            <a:ext cx="6545420" cy="86764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95C73C1F-C9B5-170F-C052-07F98BB419C4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1455457" y="796089"/>
            <a:ext cx="1064096" cy="219718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0CB1AB6-66FB-E0E9-61AE-C9A48B9DE2AC}"/>
              </a:ext>
            </a:extLst>
          </p:cNvPr>
          <p:cNvCxnSpPr>
            <a:cxnSpLocks/>
            <a:stCxn id="25" idx="2"/>
            <a:endCxn id="7" idx="0"/>
          </p:cNvCxnSpPr>
          <p:nvPr/>
        </p:nvCxnSpPr>
        <p:spPr>
          <a:xfrm rot="16200000" flipH="1">
            <a:off x="3499350" y="-442182"/>
            <a:ext cx="1068471" cy="4669355"/>
          </a:xfrm>
          <a:prstGeom prst="bentConnector3">
            <a:avLst>
              <a:gd name="adj1" fmla="val 3888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66C4AB60-06CE-B532-429F-CE0FF3624AB7}"/>
              </a:ext>
            </a:extLst>
          </p:cNvPr>
          <p:cNvCxnSpPr>
            <a:stCxn id="34" idx="2"/>
            <a:endCxn id="6" idx="0"/>
          </p:cNvCxnSpPr>
          <p:nvPr/>
        </p:nvCxnSpPr>
        <p:spPr>
          <a:xfrm rot="16200000" flipH="1">
            <a:off x="2048460" y="1389091"/>
            <a:ext cx="1068471" cy="100681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F564EBC-C284-1A9A-C04E-E1445318A149}"/>
              </a:ext>
            </a:extLst>
          </p:cNvPr>
          <p:cNvCxnSpPr>
            <a:stCxn id="27" idx="2"/>
            <a:endCxn id="7" idx="0"/>
          </p:cNvCxnSpPr>
          <p:nvPr/>
        </p:nvCxnSpPr>
        <p:spPr>
          <a:xfrm rot="16200000" flipH="1">
            <a:off x="3884556" y="-56976"/>
            <a:ext cx="1068471" cy="3898943"/>
          </a:xfrm>
          <a:prstGeom prst="bentConnector3">
            <a:avLst>
              <a:gd name="adj1" fmla="val 3888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968B2445-29D5-1C60-D7B5-79E0CBFF9133}"/>
              </a:ext>
            </a:extLst>
          </p:cNvPr>
          <p:cNvCxnSpPr>
            <a:stCxn id="30" idx="2"/>
            <a:endCxn id="6" idx="0"/>
          </p:cNvCxnSpPr>
          <p:nvPr/>
        </p:nvCxnSpPr>
        <p:spPr>
          <a:xfrm rot="16200000" flipH="1">
            <a:off x="2426475" y="1767106"/>
            <a:ext cx="1059721" cy="25953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55D5DB43-91AA-6F1B-A4D3-725EBA641C3E}"/>
              </a:ext>
            </a:extLst>
          </p:cNvPr>
          <p:cNvCxnSpPr>
            <a:stCxn id="19" idx="2"/>
            <a:endCxn id="6" idx="0"/>
          </p:cNvCxnSpPr>
          <p:nvPr/>
        </p:nvCxnSpPr>
        <p:spPr>
          <a:xfrm rot="5400000">
            <a:off x="2606375" y="1842361"/>
            <a:ext cx="1064096" cy="10464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8DB61E27-4478-3D32-0CDD-9C89D0E72603}"/>
              </a:ext>
            </a:extLst>
          </p:cNvPr>
          <p:cNvCxnSpPr>
            <a:stCxn id="28" idx="2"/>
            <a:endCxn id="7" idx="0"/>
          </p:cNvCxnSpPr>
          <p:nvPr/>
        </p:nvCxnSpPr>
        <p:spPr>
          <a:xfrm rot="16200000" flipH="1">
            <a:off x="4659793" y="718261"/>
            <a:ext cx="1068471" cy="2348470"/>
          </a:xfrm>
          <a:prstGeom prst="bentConnector3">
            <a:avLst>
              <a:gd name="adj1" fmla="val 3888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33CA0B40-CA8A-5EBC-7762-4EA4903B1780}"/>
              </a:ext>
            </a:extLst>
          </p:cNvPr>
          <p:cNvCxnSpPr>
            <a:stCxn id="31" idx="2"/>
            <a:endCxn id="6" idx="0"/>
          </p:cNvCxnSpPr>
          <p:nvPr/>
        </p:nvCxnSpPr>
        <p:spPr>
          <a:xfrm rot="5400000">
            <a:off x="3249910" y="1194452"/>
            <a:ext cx="1068471" cy="139608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2EBF07DE-3945-2158-C9A8-07C29A78FD1F}"/>
              </a:ext>
            </a:extLst>
          </p:cNvPr>
          <p:cNvCxnSpPr>
            <a:stCxn id="21" idx="2"/>
            <a:endCxn id="6" idx="0"/>
          </p:cNvCxnSpPr>
          <p:nvPr/>
        </p:nvCxnSpPr>
        <p:spPr>
          <a:xfrm rot="5400000">
            <a:off x="3672681" y="776056"/>
            <a:ext cx="1064096" cy="223725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0DF22EE8-5022-C891-C668-38BD10CDF55F}"/>
              </a:ext>
            </a:extLst>
          </p:cNvPr>
          <p:cNvCxnSpPr>
            <a:stCxn id="32" idx="2"/>
            <a:endCxn id="6" idx="0"/>
          </p:cNvCxnSpPr>
          <p:nvPr/>
        </p:nvCxnSpPr>
        <p:spPr>
          <a:xfrm rot="5400000">
            <a:off x="3889613" y="563498"/>
            <a:ext cx="1059721" cy="266674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D4064BC9-0294-BDE0-44CD-2F252F81A0BF}"/>
              </a:ext>
            </a:extLst>
          </p:cNvPr>
          <p:cNvCxnSpPr>
            <a:stCxn id="29" idx="2"/>
            <a:endCxn id="7" idx="0"/>
          </p:cNvCxnSpPr>
          <p:nvPr/>
        </p:nvCxnSpPr>
        <p:spPr>
          <a:xfrm rot="16200000" flipH="1">
            <a:off x="5702348" y="1760816"/>
            <a:ext cx="1068471" cy="263360"/>
          </a:xfrm>
          <a:prstGeom prst="bentConnector3">
            <a:avLst>
              <a:gd name="adj1" fmla="val 38885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2C0111B3-7BB8-F84B-3C4D-459CB98BF12A}"/>
              </a:ext>
            </a:extLst>
          </p:cNvPr>
          <p:cNvCxnSpPr>
            <a:cxnSpLocks/>
          </p:cNvCxnSpPr>
          <p:nvPr/>
        </p:nvCxnSpPr>
        <p:spPr>
          <a:xfrm rot="5400000">
            <a:off x="6025303" y="1706041"/>
            <a:ext cx="1075455" cy="389535"/>
          </a:xfrm>
          <a:prstGeom prst="bentConnector3">
            <a:avLst>
              <a:gd name="adj1" fmla="val 3785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05EF5D15-4B79-8581-5BE6-410640762B55}"/>
              </a:ext>
            </a:extLst>
          </p:cNvPr>
          <p:cNvCxnSpPr>
            <a:stCxn id="36" idx="2"/>
            <a:endCxn id="6" idx="0"/>
          </p:cNvCxnSpPr>
          <p:nvPr/>
        </p:nvCxnSpPr>
        <p:spPr>
          <a:xfrm rot="5400000">
            <a:off x="4653920" y="-209558"/>
            <a:ext cx="1068471" cy="420410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251B480C-83CB-15CB-A044-33FD0748269C}"/>
              </a:ext>
            </a:extLst>
          </p:cNvPr>
          <p:cNvCxnSpPr>
            <a:stCxn id="33" idx="2"/>
            <a:endCxn id="6" idx="0"/>
          </p:cNvCxnSpPr>
          <p:nvPr/>
        </p:nvCxnSpPr>
        <p:spPr>
          <a:xfrm rot="5400000">
            <a:off x="4975463" y="-522352"/>
            <a:ext cx="1059721" cy="483844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383B053B-6B99-2D49-1DE9-3A633861BB88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5245131" y="-792019"/>
            <a:ext cx="1059721" cy="537778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C0BBD456-95CA-AA1D-8762-115C6B41EEEA}"/>
              </a:ext>
            </a:extLst>
          </p:cNvPr>
          <p:cNvSpPr txBox="1"/>
          <p:nvPr/>
        </p:nvSpPr>
        <p:spPr>
          <a:xfrm>
            <a:off x="6899552" y="4787814"/>
            <a:ext cx="1745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External Causes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E502D6-86D8-D6CB-FC84-FCD527F8430C}"/>
              </a:ext>
            </a:extLst>
          </p:cNvPr>
          <p:cNvSpPr txBox="1"/>
          <p:nvPr/>
        </p:nvSpPr>
        <p:spPr>
          <a:xfrm>
            <a:off x="6899552" y="5585508"/>
            <a:ext cx="1745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Internal Causes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E53AE6B8-B84A-2AAD-4D70-97AF96FE551D}"/>
              </a:ext>
            </a:extLst>
          </p:cNvPr>
          <p:cNvCxnSpPr>
            <a:cxnSpLocks/>
            <a:stCxn id="98" idx="1"/>
            <a:endCxn id="42" idx="3"/>
          </p:cNvCxnSpPr>
          <p:nvPr/>
        </p:nvCxnSpPr>
        <p:spPr>
          <a:xfrm rot="10800000">
            <a:off x="5688026" y="4705850"/>
            <a:ext cx="1211526" cy="266631"/>
          </a:xfrm>
          <a:prstGeom prst="bentConnector3">
            <a:avLst>
              <a:gd name="adj1" fmla="val 6528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2DDB3978-277D-CA2F-AE12-893BDEC8CA76}"/>
              </a:ext>
            </a:extLst>
          </p:cNvPr>
          <p:cNvCxnSpPr>
            <a:stCxn id="98" idx="1"/>
            <a:endCxn id="48" idx="3"/>
          </p:cNvCxnSpPr>
          <p:nvPr/>
        </p:nvCxnSpPr>
        <p:spPr>
          <a:xfrm rot="10800000" flipV="1">
            <a:off x="4417370" y="4972480"/>
            <a:ext cx="2482183" cy="184550"/>
          </a:xfrm>
          <a:prstGeom prst="bentConnector3">
            <a:avLst>
              <a:gd name="adj1" fmla="val 3182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5AAF27F6-1826-45C4-CA49-5DA39851DDE9}"/>
              </a:ext>
            </a:extLst>
          </p:cNvPr>
          <p:cNvCxnSpPr>
            <a:cxnSpLocks/>
            <a:stCxn id="99" idx="1"/>
            <a:endCxn id="44" idx="3"/>
          </p:cNvCxnSpPr>
          <p:nvPr/>
        </p:nvCxnSpPr>
        <p:spPr>
          <a:xfrm rot="10800000">
            <a:off x="3076940" y="5585508"/>
            <a:ext cx="3822613" cy="184666"/>
          </a:xfrm>
          <a:prstGeom prst="bentConnector3">
            <a:avLst>
              <a:gd name="adj1" fmla="val 681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22C13FE1-13C8-958E-8136-C13427DA6AB7}"/>
              </a:ext>
            </a:extLst>
          </p:cNvPr>
          <p:cNvCxnSpPr>
            <a:stCxn id="99" idx="1"/>
            <a:endCxn id="46" idx="3"/>
          </p:cNvCxnSpPr>
          <p:nvPr/>
        </p:nvCxnSpPr>
        <p:spPr>
          <a:xfrm rot="10800000" flipV="1">
            <a:off x="6477002" y="5770174"/>
            <a:ext cx="422551" cy="22174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1AE94DB2-2C16-61AA-D468-28CE8BC428FD}"/>
              </a:ext>
            </a:extLst>
          </p:cNvPr>
          <p:cNvSpPr txBox="1"/>
          <p:nvPr/>
        </p:nvSpPr>
        <p:spPr>
          <a:xfrm>
            <a:off x="302813" y="2823822"/>
            <a:ext cx="851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OS</a:t>
            </a:r>
          </a:p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kernel 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3779B88-D0B5-A68E-D36A-3075EA81569A}"/>
              </a:ext>
            </a:extLst>
          </p:cNvPr>
          <p:cNvSpPr txBox="1"/>
          <p:nvPr/>
        </p:nvSpPr>
        <p:spPr>
          <a:xfrm>
            <a:off x="2622274" y="63261"/>
            <a:ext cx="422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OS kernel Activities</a:t>
            </a:r>
            <a:endParaRPr lang="en-TH" sz="3600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FEF987BF-34E4-03AB-84CD-2D51DEA17B4E}"/>
              </a:ext>
            </a:extLst>
          </p:cNvPr>
          <p:cNvSpPr/>
          <p:nvPr/>
        </p:nvSpPr>
        <p:spPr>
          <a:xfrm rot="10800000">
            <a:off x="3033150" y="940265"/>
            <a:ext cx="315189" cy="24581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D734BDEE-1FDD-FF23-029E-E67111CED1DC}"/>
              </a:ext>
            </a:extLst>
          </p:cNvPr>
          <p:cNvSpPr/>
          <p:nvPr/>
        </p:nvSpPr>
        <p:spPr>
          <a:xfrm rot="10800000">
            <a:off x="5165761" y="930885"/>
            <a:ext cx="315189" cy="24581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4BA94DD-73FC-5BC1-4EF7-0474F74A50A3}"/>
              </a:ext>
            </a:extLst>
          </p:cNvPr>
          <p:cNvSpPr/>
          <p:nvPr/>
        </p:nvSpPr>
        <p:spPr>
          <a:xfrm rot="10800000">
            <a:off x="7149515" y="930884"/>
            <a:ext cx="315189" cy="24581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E085D50-E2B7-8647-013E-8158C012DA9A}"/>
              </a:ext>
            </a:extLst>
          </p:cNvPr>
          <p:cNvSpPr/>
          <p:nvPr/>
        </p:nvSpPr>
        <p:spPr>
          <a:xfrm rot="10800000">
            <a:off x="911661" y="6320450"/>
            <a:ext cx="315189" cy="24581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492AFF-5D7E-56F7-F31F-915979643892}"/>
              </a:ext>
            </a:extLst>
          </p:cNvPr>
          <p:cNvSpPr txBox="1"/>
          <p:nvPr/>
        </p:nvSpPr>
        <p:spPr>
          <a:xfrm>
            <a:off x="1480194" y="6290893"/>
            <a:ext cx="6094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Context Switching </a:t>
            </a:r>
            <a:r>
              <a:rPr lang="th-TH" dirty="0">
                <a:latin typeface="Dreaming Outloud Pro" panose="03050502040302030504" pitchFamily="66" charset="77"/>
                <a:cs typeface="TH SarabunPSK" panose="020B0500040200020003" pitchFamily="34" charset="-34"/>
              </a:rPr>
              <a:t>เกิดขึ้น เฉพาะเมื่อมีการเปลี่ยน 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Process </a:t>
            </a:r>
            <a:r>
              <a:rPr lang="th-TH" dirty="0">
                <a:latin typeface="Dreaming Outloud Pro" panose="03050502040302030504" pitchFamily="66" charset="77"/>
                <a:cs typeface="TH SarabunPSK" panose="020B0500040200020003" pitchFamily="34" charset="-34"/>
              </a:rPr>
              <a:t>ที่ใช้งาน 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CPU  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73BEBA-EF5B-FFEC-710F-BF51E0DEFADE}"/>
              </a:ext>
            </a:extLst>
          </p:cNvPr>
          <p:cNvSpPr txBox="1"/>
          <p:nvPr/>
        </p:nvSpPr>
        <p:spPr>
          <a:xfrm>
            <a:off x="84360" y="1108386"/>
            <a:ext cx="62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CPU 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5472ADFC-FA14-1D04-301A-AF376EBD1096}"/>
              </a:ext>
            </a:extLst>
          </p:cNvPr>
          <p:cNvSpPr/>
          <p:nvPr/>
        </p:nvSpPr>
        <p:spPr>
          <a:xfrm rot="10800000">
            <a:off x="1921695" y="930883"/>
            <a:ext cx="315189" cy="24581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25582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0038"/>
            <a:ext cx="7924800" cy="4525963"/>
          </a:xfrm>
        </p:spPr>
        <p:txBody>
          <a:bodyPr>
            <a:norm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คือนามธรรมของสัญญานที่เกิดขึ้นในระบบคอมพิวเตอร์ที่ทำให้เกิด</a:t>
            </a:r>
            <a:r>
              <a:rPr lang="th-TH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การขัดจังหวะการทำงานของ </a:t>
            </a:r>
            <a:r>
              <a:rPr lang="en-US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execute routine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เรียกว่า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handler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เตรียมไว้เพื่อจัดการกับสาเหตุของสัญานเหล่านั้น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ถ้ามองในอีกมุมหนึ่งสัญญานเหล่านี้เป็นวิธีการที่ทำให้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กลับใช้บริการของ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เนื่องจาก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Assign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ไปทำงานให้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ต่างๆที่มีอยู่ในระบบ เมื่อมีเหตุการที่จำเป็นต้องให้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เข้ามาจัดการ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Interrupt signals </a:t>
            </a:r>
          </a:p>
        </p:txBody>
      </p:sp>
    </p:spTree>
    <p:extLst>
      <p:ext uri="{BB962C8B-B14F-4D97-AF65-F5344CB8AC3E}">
        <p14:creationId xmlns:p14="http://schemas.microsoft.com/office/powerpoint/2010/main" val="510674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92500" lnSpcReduction="10000"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เมื่อเกิด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ขึ้นในขณะที่โปรแกรม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execute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อยู่การทำงานของโปรแกรม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จะถูกขัดจังหวะโดยที่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จะเปลี่ยนไป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execute Interrupt Handler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Handler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save Context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Control Block (PCB)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Structure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อยู่ใน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Memory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Kernel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ใช้เก็บข้อมูลที่เป็นตัวแทนของ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P 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ทำงานเสร็จก็จะส่งการทำงานให้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Kernel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ซึ่งจะพิจารณาว่าจะรัน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ต่อหรือเลือก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อื่นเข้ามาใช้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ในกรณีที่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รันต่อก็จะ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load Context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PCB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เข้าสู่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ต่างๆ 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รันต่อดังในภาพ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Interrupt handler </a:t>
            </a:r>
          </a:p>
        </p:txBody>
      </p:sp>
    </p:spTree>
    <p:extLst>
      <p:ext uri="{BB962C8B-B14F-4D97-AF65-F5344CB8AC3E}">
        <p14:creationId xmlns:p14="http://schemas.microsoft.com/office/powerpoint/2010/main" val="940351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41" y="609600"/>
            <a:ext cx="7753350" cy="5210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4343" y="6248400"/>
            <a:ext cx="744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William Stalling, Operating Systems: Internal and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575700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Implement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การขัดจังหวะดังกล่าว จะเกิดขึ้นใน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จะได้รับการออกแบบให้เช็ค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Flag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ชนิดหนึ่งของ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ว่ามี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เกิดขึ้นหรือไม่ก่อนที่จะ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fetch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คำสั่งใหม่ของ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Process 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อยู่ในปัจจุบันเข้ามา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Execute 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ถ้ามี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Flag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ก็ให้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fetch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Handler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Execute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เป็นคำสั่งถัดไป 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แต่ถ้าไม่มีก็ให้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fetch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คำสั่งถัดไปของ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เข้ามา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Execute 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ดังภาพถัดไป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Instruction Cycle</a:t>
            </a:r>
            <a:r>
              <a:rPr lang="th-TH" sz="4000" dirty="0">
                <a:latin typeface="Dreaming Outloud Pro" panose="03050502040302030504" pitchFamily="66" charset="77"/>
                <a:cs typeface="TH SarabunPSK" panose="020B0500040200020003" pitchFamily="34" charset="-34"/>
              </a:rPr>
              <a:t> </a:t>
            </a:r>
            <a:r>
              <a:rPr lang="en-US" sz="40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With Interrupts</a:t>
            </a:r>
          </a:p>
        </p:txBody>
      </p:sp>
    </p:spTree>
    <p:extLst>
      <p:ext uri="{BB962C8B-B14F-4D97-AF65-F5344CB8AC3E}">
        <p14:creationId xmlns:p14="http://schemas.microsoft.com/office/powerpoint/2010/main" val="2493295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94" y="1600201"/>
            <a:ext cx="8190111" cy="41148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Instruction Cycle with Interrupts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343" y="6248400"/>
            <a:ext cx="744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William Stalling, Operating Systems: Internal and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357671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5963"/>
          </a:xfrm>
        </p:spPr>
        <p:txBody>
          <a:bodyPr>
            <a:normAutofit fontScale="92500" lnSpcReduction="10000"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ในมิติของแหล่งกำเนิดเราแบ่งอินเตอร์รับเป็น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กลุ่มได้แก่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Hardware Interrupts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คือสัญญาน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ที่กำเนิดขึ้นจากอุปกรณ์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Hardware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ในระบบคอมพิวเตอร์ เมื่อมีเหตุการณ์สำคัญเกิดขึ้น สัญญานดังกล่าวจะถูกส่งผ่านระบบ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Bus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ในระบบคอมพิวเตอร์(ดังภาพถัดไป) มายัง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Software Interrupts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คือสัญญาน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</a:t>
            </a:r>
            <a:r>
              <a:rPr lang="th-TH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เกิดขึ้นจากการรันคำสั่ง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คำสั่ง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Call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</a:t>
            </a:r>
            <a:r>
              <a:rPr lang="th-TH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เกิดจากความผิดพลาดในการประมวลผล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(ส่งผลให้เกิดการเปลี่ยน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Level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เพื่อรัน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Routines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หรือ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kernel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จะอธิบายต่อไปใน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Slide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เรื่อง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v.s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. Trap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43042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Hardware </a:t>
            </a:r>
            <a:r>
              <a:rPr lang="en-US" dirty="0" err="1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v.s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. Software Interrupts</a:t>
            </a:r>
          </a:p>
        </p:txBody>
      </p:sp>
    </p:spTree>
    <p:extLst>
      <p:ext uri="{BB962C8B-B14F-4D97-AF65-F5344CB8AC3E}">
        <p14:creationId xmlns:p14="http://schemas.microsoft.com/office/powerpoint/2010/main" val="3743113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Hardware Interrupts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แบ่งออกเป็น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4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ประเภทได้แก่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Maskable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Interrupt (IRQ)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ที่โปรแกรมให้สนใจหรือไม่สนใจได้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Non-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Maskable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Interrupt (NMI)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ที่ไม่สามารถละเลยได้ ได้แก่สัญญานที่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hardware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แจ้งเมื่อมีเหตุฉุกเฉินเช่น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Chipset Errors, Memory Errors (ECC Error), Data Corruption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Bus,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หรือการกดปุ่ม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reset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เป็นต้น ส่วนใหญ่ระบบจะ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Hang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หรือเข้าสู่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Recovery Mode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Inter-Processor Interrupts (IPI)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คือการส่ง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Processors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Multi-Processors system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Spurious Interrupts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คือ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ที่เกิดจากการออกแบบ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Hardware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ที่ผิดพลาด หรือการมีสัญญานไฟฟ้ารบกวน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line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ในเครื่อง</a:t>
            </a:r>
          </a:p>
          <a:p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71500" y="1603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Hardware Interrupts</a:t>
            </a:r>
          </a:p>
        </p:txBody>
      </p:sp>
    </p:spTree>
    <p:extLst>
      <p:ext uri="{BB962C8B-B14F-4D97-AF65-F5344CB8AC3E}">
        <p14:creationId xmlns:p14="http://schemas.microsoft.com/office/powerpoint/2010/main" val="1341428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Hardware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ที่ทำหน้าที่จัดการส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ั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ณญาณอินเตอร์รับมีสองชนิด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Local Advanced Programmable Interrupt Controller (LAPIC)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เป็นอุปกรณ์จัดการสัญญาณอินเตอร์รับสำหรับแต่ละซีพียู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อร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ส่ง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timer 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โล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คอ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ล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ซีพียู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อร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และส่ง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IPI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LAPIC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ของซีพียู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อร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I/O Advanced Programmable Interrupt Controller (IOAPIC)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เป็นอุปกรณ์จัดการสัญญาณอินเตอร์รับจากไอโอสับ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ซิส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เต็ม (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I/O subsystem)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และส่งต่อให้ซีพียู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อร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ที่เป็นผู้รับ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71500" y="1603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Interrupt Controller</a:t>
            </a:r>
          </a:p>
        </p:txBody>
      </p:sp>
    </p:spTree>
    <p:extLst>
      <p:ext uri="{BB962C8B-B14F-4D97-AF65-F5344CB8AC3E}">
        <p14:creationId xmlns:p14="http://schemas.microsoft.com/office/powerpoint/2010/main" val="611542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416BFD49-C115-9341-8F52-943ADBD53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505" y="26719"/>
            <a:ext cx="6284990" cy="6504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2C4CFD-CA7C-F04D-BCE9-89F04B4FD9E1}"/>
              </a:ext>
            </a:extLst>
          </p:cNvPr>
          <p:cNvSpPr txBox="1"/>
          <p:nvPr/>
        </p:nvSpPr>
        <p:spPr>
          <a:xfrm>
            <a:off x="81705" y="4343400"/>
            <a:ext cx="1242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I/O</a:t>
            </a:r>
          </a:p>
          <a:p>
            <a:r>
              <a:rPr lang="en-TH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8BDDC6-0139-F548-AFD6-415D867E83B8}"/>
              </a:ext>
            </a:extLst>
          </p:cNvPr>
          <p:cNvSpPr txBox="1"/>
          <p:nvPr/>
        </p:nvSpPr>
        <p:spPr>
          <a:xfrm>
            <a:off x="7598052" y="1070401"/>
            <a:ext cx="1242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Timer</a:t>
            </a:r>
          </a:p>
          <a:p>
            <a:r>
              <a:rPr lang="en-TH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650E86-5635-7647-95BF-88722C5C3185}"/>
              </a:ext>
            </a:extLst>
          </p:cNvPr>
          <p:cNvCxnSpPr>
            <a:cxnSpLocks/>
          </p:cNvCxnSpPr>
          <p:nvPr/>
        </p:nvCxnSpPr>
        <p:spPr>
          <a:xfrm>
            <a:off x="1219200" y="4650432"/>
            <a:ext cx="36576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DD9E86B-58A2-F54C-998C-6340D068B70A}"/>
              </a:ext>
            </a:extLst>
          </p:cNvPr>
          <p:cNvCxnSpPr>
            <a:cxnSpLocks/>
          </p:cNvCxnSpPr>
          <p:nvPr/>
        </p:nvCxnSpPr>
        <p:spPr>
          <a:xfrm flipV="1">
            <a:off x="5334000" y="1981200"/>
            <a:ext cx="457200" cy="26692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816DC0-FCAB-6B4D-AC75-B44A0E964BFF}"/>
              </a:ext>
            </a:extLst>
          </p:cNvPr>
          <p:cNvCxnSpPr>
            <a:cxnSpLocks/>
          </p:cNvCxnSpPr>
          <p:nvPr/>
        </p:nvCxnSpPr>
        <p:spPr>
          <a:xfrm flipV="1">
            <a:off x="5775366" y="1219200"/>
            <a:ext cx="0" cy="533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396164-3203-8B41-82AE-02F3D9BA1461}"/>
              </a:ext>
            </a:extLst>
          </p:cNvPr>
          <p:cNvCxnSpPr>
            <a:cxnSpLocks/>
          </p:cNvCxnSpPr>
          <p:nvPr/>
        </p:nvCxnSpPr>
        <p:spPr>
          <a:xfrm flipV="1">
            <a:off x="6858000" y="1219200"/>
            <a:ext cx="0" cy="53340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1D8275A-AA21-834A-94EC-A0CBBA3D676E}"/>
              </a:ext>
            </a:extLst>
          </p:cNvPr>
          <p:cNvSpPr txBox="1"/>
          <p:nvPr/>
        </p:nvSpPr>
        <p:spPr>
          <a:xfrm>
            <a:off x="5943600" y="762000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EC2732-A45D-F449-B591-41565BF85EF5}"/>
              </a:ext>
            </a:extLst>
          </p:cNvPr>
          <p:cNvSpPr txBox="1"/>
          <p:nvPr/>
        </p:nvSpPr>
        <p:spPr>
          <a:xfrm>
            <a:off x="3429000" y="762000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BFB85-131A-4841-AE49-6A626C5ADB33}"/>
              </a:ext>
            </a:extLst>
          </p:cNvPr>
          <p:cNvSpPr/>
          <p:nvPr/>
        </p:nvSpPr>
        <p:spPr>
          <a:xfrm>
            <a:off x="6338677" y="4465766"/>
            <a:ext cx="9755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IOAPIC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46EAC9-3483-714A-BC67-55FD59F57B1D}"/>
              </a:ext>
            </a:extLst>
          </p:cNvPr>
          <p:cNvSpPr/>
          <p:nvPr/>
        </p:nvSpPr>
        <p:spPr>
          <a:xfrm>
            <a:off x="1600200" y="1485899"/>
            <a:ext cx="9755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LAPIC1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E33ED5-8376-B94B-946C-CDFD6FB96986}"/>
              </a:ext>
            </a:extLst>
          </p:cNvPr>
          <p:cNvSpPr/>
          <p:nvPr/>
        </p:nvSpPr>
        <p:spPr>
          <a:xfrm>
            <a:off x="7722028" y="2362200"/>
            <a:ext cx="9755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LAPIC0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5F5309-B29D-884D-9149-C93284E1B847}"/>
              </a:ext>
            </a:extLst>
          </p:cNvPr>
          <p:cNvCxnSpPr/>
          <p:nvPr/>
        </p:nvCxnSpPr>
        <p:spPr>
          <a:xfrm>
            <a:off x="2575707" y="1670565"/>
            <a:ext cx="4722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063A63-AC31-224A-9D1F-9BAB6E2C7B51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726160" y="1855232"/>
            <a:ext cx="995868" cy="6916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91C309-BC0C-094C-9987-BC22D8EC35A7}"/>
              </a:ext>
            </a:extLst>
          </p:cNvPr>
          <p:cNvCxnSpPr>
            <a:cxnSpLocks/>
          </p:cNvCxnSpPr>
          <p:nvPr/>
        </p:nvCxnSpPr>
        <p:spPr>
          <a:xfrm flipH="1">
            <a:off x="5638800" y="4650432"/>
            <a:ext cx="70811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625305-D831-B946-A0CB-68334D161D64}"/>
              </a:ext>
            </a:extLst>
          </p:cNvPr>
          <p:cNvCxnSpPr>
            <a:cxnSpLocks/>
          </p:cNvCxnSpPr>
          <p:nvPr/>
        </p:nvCxnSpPr>
        <p:spPr>
          <a:xfrm flipH="1">
            <a:off x="4462207" y="1855231"/>
            <a:ext cx="8717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70B72FB-7094-304C-A260-64D7E4408162}"/>
              </a:ext>
            </a:extLst>
          </p:cNvPr>
          <p:cNvSpPr txBox="1"/>
          <p:nvPr/>
        </p:nvSpPr>
        <p:spPr>
          <a:xfrm>
            <a:off x="4572000" y="300335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IPI</a:t>
            </a:r>
            <a:endParaRPr lang="en-TH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52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Maskable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Interrupt (IRQ)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คือสัญญาน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Programmer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สามารถเขียนโปรแกรมให้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เลือกที่จะสนใจหรือไม่สนใจได้ 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เนื่องจากในระหว่างที่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รัน อาจมี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เกิดขึ้นมากมายดังนั้นจึงมีความจำเป็นต้องสามารถออกคำสั่งให้มีการจัดการ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เหล่านั้นในอันดับและเวลาที่เหมาะสม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ตัวอย่างเช่น ในสถาปัตยกรรม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x86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ดั้งเดิมมี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0 – 15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Slides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ถัดไป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Hardware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ควบคุมได้แก่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Programmable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Advanced Programmable Interrupt Controller (PIC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APIC)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Maskable Interrupt Signals</a:t>
            </a:r>
          </a:p>
        </p:txBody>
      </p:sp>
    </p:spTree>
    <p:extLst>
      <p:ext uri="{BB962C8B-B14F-4D97-AF65-F5344CB8AC3E}">
        <p14:creationId xmlns:p14="http://schemas.microsoft.com/office/powerpoint/2010/main" val="1743193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2" y="1676400"/>
            <a:ext cx="8458200" cy="4525963"/>
          </a:xfrm>
        </p:spPr>
        <p:txBody>
          <a:bodyPr>
            <a:normAutofit/>
          </a:bodyPr>
          <a:lstStyle/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บนเครื่อง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พื้นฐานได้แก่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Interrupt Requests (IRQ)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191001" y="1676400"/>
            <a:ext cx="4800600" cy="5029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8 – real-time clock (RTC)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9 – Advanced Configuration 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and Power Interface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10 – open interrupt, SCSI or NIC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11 – open interrupt, SCSI or NIC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12 – mouse on PS/2 connector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13 – CPU co-processor  or 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integrated floating point unit  or 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inter-processor interrupt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14 – primary ATA channel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(ATA interface usually serves 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hard disk drives and CD drives)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15 – secondary ATA channel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50371" y="2286000"/>
            <a:ext cx="3635829" cy="441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0 – system timer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1 – keyboard controller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2 – cascaded signals from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</a:t>
            </a:r>
          </a:p>
          <a:p>
            <a:pPr marL="0" indent="0">
              <a:buNone/>
            </a:pP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IRQs 8–15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3 – serial port 2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4 – serial port 1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5 – parallel port 2 and 3  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or  sound card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6 – floppy disk controller</a:t>
            </a:r>
          </a:p>
          <a:p>
            <a:pPr marL="0" indent="0">
              <a:buNone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IRQ 7 – parallel port 1. 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38949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Traps </a:t>
            </a:r>
            <a:r>
              <a:rPr lang="en-US" dirty="0" err="1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v.s</a:t>
            </a:r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. Interrupts</a:t>
            </a:r>
            <a:endParaRPr lang="th-TH" dirty="0">
              <a:solidFill>
                <a:srgbClr val="FF0000"/>
              </a:solidFill>
              <a:latin typeface="Dreaming Outloud Pro" panose="03050502040302030504" pitchFamily="66" charset="77"/>
              <a:cs typeface="TH SarabunPSK" panose="020B0500040200020003" pitchFamily="34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ในมิติของความสัมพันธ์กับยู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เซอร์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 เราแบ่งอินเตอร์รับเป็น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กลุ่ม</a:t>
            </a:r>
            <a:endParaRPr lang="th-TH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คือการที่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ต้องเปลี่ยนการประมวลผลจากชุดคำสั่งของ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user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โปรแกรมที่กำลังประมวลผลในปัจจุบันไปประมวลผลชุดคำสั่งของ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เพื่อตอบสนองกับ เหตุการณ์พิเศษที่เกิดขึ้นอันเป็นผลข้างเคียงของการประมวลผลคำสั่งของ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user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โปรแกรมนั้น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มักจะเกิดขึ้นเมื่อมี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exception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error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ในการรันคำสั่งของโปรแกรม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endParaRPr lang="th-TH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User program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สามารถเรียก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call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เพื่อทำให้เกิด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ขึ้นได้</a:t>
            </a:r>
            <a:endParaRPr lang="en-US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E.g. </a:t>
            </a:r>
            <a:r>
              <a:rPr lang="en-US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Arith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overflow, page faults, violation of privilege level, violation of mem </a:t>
            </a:r>
            <a:r>
              <a:rPr lang="en-US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prot.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, illegal opcode</a:t>
            </a:r>
          </a:p>
          <a:p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Interrupt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เกิดจากเหตุการณ์ที่เกิดขึ้นบนระบบคอมพิวเตอร์ภายนอกการประมวลผล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User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โปแกรม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E.g. I/O interrupt and timer interrupts  </a:t>
            </a:r>
            <a:endParaRPr lang="en-US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59409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เป็นเหตุการแบบ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Synchronous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เกิดขึ้นเพราะการรันคำสั่งใดคำสั่งหนึ่งของ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และคำสั่งนั้นต้องรอรับผลจากการเกิด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Call: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โปรแกรมรันคำสั่งพิเศษเช่น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SYSCALL/SYSRET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หรือ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 (x86)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เพื่อเปลี่ยน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mode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เพื่อใช้บริการ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ต่างๆของ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เพื่อบริหารจัดการทรัพยากรของคอมพิวเตอร์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Arithmetic Overflow: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การเพิ่มหรือลดค่าของตัวเลขมากกว่าที่ตัวแปรชนิดที่ใช้อยู่จะแทนค่าได้ หรือค่าที่มากกว่าที่การประมวลผลตัวเลขจะทำได้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Arithmetic Error: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การหารเลขด้วย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0  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Page Fault: Memory page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ที่ต้องการใช้งานไม่อยู่ใน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Physical Memory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Violation of CPU Privilege Levels: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ISA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ในขณะที่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ประมวลผลใน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User Mode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Violation of Memory Protection: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การพยายามเปลี่ยนแปลงค่าใน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Memory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ส่วนที่ไม่ได้รับอนุญาตให้เปลี่ยนแปลงค่าเช่น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Code Segment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Illegal Opcode: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การส่งรหัสคำสั่ง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binary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ที่ไม่ใช่ชุดคำสั่งที่ถูกต้องให้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435429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Examples of Trap </a:t>
            </a:r>
            <a:endParaRPr lang="th-TH" dirty="0">
              <a:solidFill>
                <a:srgbClr val="FF0000"/>
              </a:solidFill>
              <a:latin typeface="Dreaming Outloud Pro" panose="03050502040302030504" pitchFamily="66" charset="77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8746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92500" lnSpcReduction="10000"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มักจะเป็นเหตุการณ์ที่เกิดแบบ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Asynchronous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คือสามารถเกิดเมื่อไรก็ได้ในระหว่างที่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กำลังประมวลผลคำสั่งใดๆก็ได้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Timer Interrupt: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นับถอยหลังถึง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0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I/O devices: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เมื่อมีการกด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Keyboard,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เคลื่อน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Mouse,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Disk Interrupts: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ส่งสัญญานเมื่อการอ่านข้อมูลจาก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Disk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หรือเขียนข้อมูลลง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Disk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เสร็จสิ้น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Network Interrupts: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ส่งสัญญานเมื่อการรับข้อมูลจาก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Network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หรือส่งข้อมูลสู่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Network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เสร็จสิ้น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NMI Interrupts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ที่ยกตัวอย่างไปก่อนหน้า</a:t>
            </a: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435429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Examples of Interrupts </a:t>
            </a:r>
            <a:endParaRPr lang="th-TH" dirty="0">
              <a:solidFill>
                <a:srgbClr val="FF0000"/>
              </a:solidFill>
              <a:latin typeface="Dreaming Outloud Pro" panose="03050502040302030504" pitchFamily="66" charset="77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6630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1371600" y="397603"/>
            <a:ext cx="2286016" cy="228601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66691" y="870880"/>
            <a:ext cx="5943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CPU Privilege Levels</a:t>
            </a:r>
            <a:r>
              <a:rPr lang="en-US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533400" y="2879632"/>
            <a:ext cx="8077200" cy="2286016"/>
          </a:xfrm>
        </p:spPr>
        <p:txBody>
          <a:bodyPr>
            <a:no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เพื่อป้องกันไม่ให้ยู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เซอร์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โปรแกรมสามารถจัดสรรทรัพยากรได้ตามใจ จึงได้มีการกำหนดให้ซีพียูมี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Levels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โดยมีข้อกำหนดว่า ซีพียูจะรันคำสั่ง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ISA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(เช่นกำหนดค่า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clock timer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ได้เมื่อรันใน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ซิส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เต็มโหมดเท่านั้น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โอเอสเริ่มต้นใน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ซิส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เต็มโหมด และเมื่อจะรันยู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เซอร์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โปรแกรมจะเปลี่ยนโหมดเป็นยู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เซอร์ใ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หมดแล้วจึงรันยู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เซอร์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เมื่อเกิดอินเตอร์รับหรือ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แท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รบซีพียูจะเปลี่ยนโหมดเป็น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ซิส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เต็มเพื่อรันอิน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เต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อร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ับแฮนด์เล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อร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และโอเอสจะเปลี่ยนโหมดเมื่อเลือกยู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เซอร์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โปรแซสมาใช้ซีพียู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ถ้ายู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เซอร์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ISA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ในยูเซอร์โหมด 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จะเกิด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Trap 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ขึ้น </a:t>
            </a:r>
            <a:endParaRPr lang="en-US" b="1" u="sng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923704" y="985715"/>
            <a:ext cx="1181807" cy="1104904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System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797" y="577269"/>
            <a:ext cx="9909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 Rounded MT Bold" panose="020F0704030504030204" pitchFamily="34" charset="0"/>
              </a:rPr>
              <a:t>User Mode</a:t>
            </a:r>
          </a:p>
        </p:txBody>
      </p:sp>
    </p:spTree>
    <p:extLst>
      <p:ext uri="{BB962C8B-B14F-4D97-AF65-F5344CB8AC3E}">
        <p14:creationId xmlns:p14="http://schemas.microsoft.com/office/powerpoint/2010/main" val="3847458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4064041" y="3709487"/>
            <a:ext cx="203159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70002" y="3709487"/>
            <a:ext cx="1157749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7751" y="3709487"/>
            <a:ext cx="2210104" cy="533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267200" y="3709487"/>
            <a:ext cx="942513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775346" y="3770543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436" y="3791521"/>
            <a:ext cx="1150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 Kernel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60" y="1207721"/>
            <a:ext cx="344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ทุกอย่างรันโดย </a:t>
            </a:r>
            <a:r>
              <a:rPr lang="en-US" dirty="0"/>
              <a:t>CPU </a:t>
            </a:r>
          </a:p>
          <a:p>
            <a:r>
              <a:rPr lang="en-US" dirty="0"/>
              <a:t>CPU </a:t>
            </a:r>
            <a:r>
              <a:rPr lang="th-TH" dirty="0"/>
              <a:t>ทำงานในปัจจุบัน และทำทีละคำสั่ง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143000" y="1976023"/>
            <a:ext cx="665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th-TH" dirty="0"/>
              <a:t>ก่อนจะรัน </a:t>
            </a:r>
            <a:r>
              <a:rPr lang="en-US" dirty="0"/>
              <a:t>P0 OS kernel </a:t>
            </a:r>
            <a:r>
              <a:rPr lang="th-TH" dirty="0"/>
              <a:t>สร้าง </a:t>
            </a:r>
            <a:r>
              <a:rPr lang="en-US" dirty="0"/>
              <a:t>PCB </a:t>
            </a:r>
            <a:r>
              <a:rPr lang="th-TH" dirty="0"/>
              <a:t>ของ </a:t>
            </a:r>
            <a:r>
              <a:rPr lang="en-US" dirty="0"/>
              <a:t>P0 </a:t>
            </a:r>
            <a:r>
              <a:rPr lang="th-TH" dirty="0"/>
              <a:t>และ </a:t>
            </a:r>
            <a:r>
              <a:rPr lang="en-US" dirty="0"/>
              <a:t>load P0 </a:t>
            </a:r>
            <a:r>
              <a:rPr lang="th-TH" dirty="0"/>
              <a:t>เข้าสู่ </a:t>
            </a:r>
            <a:r>
              <a:rPr lang="en-US" dirty="0"/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0941" y="3791521"/>
            <a:ext cx="1150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 Kernel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9713" y="3709487"/>
            <a:ext cx="2231647" cy="533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089674" y="3770543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1360" y="3709487"/>
            <a:ext cx="1150315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371600" y="2345355"/>
            <a:ext cx="0" cy="13431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75388" y="2378896"/>
            <a:ext cx="665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Kernel</a:t>
            </a:r>
            <a:r>
              <a:rPr lang="th-TH" dirty="0"/>
              <a:t> กำหนดให้ </a:t>
            </a:r>
            <a:r>
              <a:rPr lang="en-US" dirty="0"/>
              <a:t>Program Counter </a:t>
            </a:r>
            <a:r>
              <a:rPr lang="th-TH" dirty="0"/>
              <a:t>ชี้ไปที่ </a:t>
            </a:r>
            <a:r>
              <a:rPr lang="en-US" dirty="0"/>
              <a:t>Address</a:t>
            </a:r>
            <a:r>
              <a:rPr lang="th-TH" dirty="0"/>
              <a:t>เริ่มต้นของ </a:t>
            </a:r>
            <a:r>
              <a:rPr lang="en-US" dirty="0"/>
              <a:t>P0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9522" y="4742481"/>
            <a:ext cx="223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CPU </a:t>
            </a:r>
            <a:r>
              <a:rPr lang="th-TH" dirty="0"/>
              <a:t>ประมวลผล </a:t>
            </a:r>
            <a:r>
              <a:rPr lang="en-US" dirty="0"/>
              <a:t>P0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981200" y="4242887"/>
            <a:ext cx="0" cy="481513"/>
          </a:xfrm>
          <a:prstGeom prst="straightConnector1">
            <a:avLst/>
          </a:prstGeom>
          <a:ln w="2222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77228" y="4742481"/>
            <a:ext cx="44877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Hardware </a:t>
            </a:r>
            <a:r>
              <a:rPr lang="th-TH" dirty="0"/>
              <a:t>ปล่อย </a:t>
            </a:r>
            <a:r>
              <a:rPr lang="en-US" dirty="0"/>
              <a:t>CPU Timer Interrupt</a:t>
            </a:r>
            <a:r>
              <a:rPr lang="th-TH" dirty="0"/>
              <a:t> ขัดจังหวะการทำงานของ </a:t>
            </a:r>
            <a:r>
              <a:rPr lang="en-US" dirty="0"/>
              <a:t>P0 </a:t>
            </a:r>
            <a:r>
              <a:rPr lang="th-TH" dirty="0"/>
              <a:t>และรัน </a:t>
            </a:r>
            <a:r>
              <a:rPr lang="en-US" dirty="0"/>
              <a:t>Interrupt Handler</a:t>
            </a:r>
            <a:r>
              <a:rPr lang="th-TH" dirty="0"/>
              <a:t> (ส่วนหนึ่งของ </a:t>
            </a:r>
            <a:r>
              <a:rPr lang="en-US" dirty="0"/>
              <a:t>OS kernel)</a:t>
            </a:r>
          </a:p>
          <a:p>
            <a:r>
              <a:rPr lang="en-US" dirty="0"/>
              <a:t>6. Interrupt Handler save context </a:t>
            </a:r>
            <a:r>
              <a:rPr lang="th-TH" dirty="0"/>
              <a:t>ของ </a:t>
            </a:r>
            <a:r>
              <a:rPr lang="en-US" dirty="0"/>
              <a:t>P0 </a:t>
            </a:r>
            <a:r>
              <a:rPr lang="th-TH" dirty="0"/>
              <a:t>และ</a:t>
            </a:r>
            <a:r>
              <a:rPr lang="en-US" dirty="0"/>
              <a:t> </a:t>
            </a:r>
            <a:r>
              <a:rPr lang="th-TH" dirty="0"/>
              <a:t>รับ </a:t>
            </a:r>
            <a:r>
              <a:rPr lang="en-US" dirty="0"/>
              <a:t>code </a:t>
            </a:r>
            <a:r>
              <a:rPr lang="th-TH" dirty="0"/>
              <a:t>ของ </a:t>
            </a:r>
            <a:r>
              <a:rPr lang="en-US" dirty="0"/>
              <a:t>Hander </a:t>
            </a:r>
            <a:r>
              <a:rPr lang="th-TH" dirty="0"/>
              <a:t>และรัน </a:t>
            </a:r>
            <a:r>
              <a:rPr lang="en-US" dirty="0"/>
              <a:t>OS </a:t>
            </a:r>
            <a:r>
              <a:rPr lang="th-TH" dirty="0"/>
              <a:t>ให้ </a:t>
            </a:r>
            <a:r>
              <a:rPr lang="en-US" dirty="0"/>
              <a:t>OS </a:t>
            </a:r>
            <a:r>
              <a:rPr lang="th-TH" dirty="0"/>
              <a:t>พิจารณาว่าจะทำอะไรต่อ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611087" y="2755423"/>
            <a:ext cx="6653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OS kernel set Timer Interrupt </a:t>
            </a:r>
            <a:r>
              <a:rPr lang="th-TH" dirty="0"/>
              <a:t>ให้ </a:t>
            </a:r>
            <a:r>
              <a:rPr lang="en-US" dirty="0"/>
              <a:t>= Time Slice (</a:t>
            </a:r>
            <a:r>
              <a:rPr lang="en-US" dirty="0" err="1"/>
              <a:t>eg</a:t>
            </a:r>
            <a:r>
              <a:rPr lang="en-US" dirty="0"/>
              <a:t>. 1000 ns)</a:t>
            </a:r>
          </a:p>
          <a:p>
            <a:r>
              <a:rPr lang="en-US" dirty="0"/>
              <a:t>    hardware </a:t>
            </a:r>
            <a:r>
              <a:rPr lang="th-TH" dirty="0"/>
              <a:t>จะ </a:t>
            </a:r>
            <a:r>
              <a:rPr lang="en-US" dirty="0"/>
              <a:t>count down </a:t>
            </a:r>
            <a:r>
              <a:rPr lang="th-TH" dirty="0"/>
              <a:t>จนถึง </a:t>
            </a:r>
            <a:r>
              <a:rPr lang="en-US" dirty="0"/>
              <a:t>0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4165620" y="4242886"/>
            <a:ext cx="0" cy="481513"/>
          </a:xfrm>
          <a:prstGeom prst="straightConnector1">
            <a:avLst/>
          </a:prstGeom>
          <a:ln w="2222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 txBox="1">
            <a:spLocks/>
          </p:cNvSpPr>
          <p:nvPr/>
        </p:nvSpPr>
        <p:spPr>
          <a:xfrm>
            <a:off x="541298" y="26076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Review: Multi-programming CPU Execution</a:t>
            </a:r>
          </a:p>
        </p:txBody>
      </p:sp>
    </p:spTree>
    <p:extLst>
      <p:ext uri="{BB962C8B-B14F-4D97-AF65-F5344CB8AC3E}">
        <p14:creationId xmlns:p14="http://schemas.microsoft.com/office/powerpoint/2010/main" val="3122100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4064041" y="3709487"/>
            <a:ext cx="203159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70002" y="3709487"/>
            <a:ext cx="1157749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7751" y="3709487"/>
            <a:ext cx="2210104" cy="533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267200" y="3709487"/>
            <a:ext cx="942513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775346" y="3770543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436" y="3791521"/>
            <a:ext cx="1150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 Kernel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41" y="1473572"/>
            <a:ext cx="780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OS kernel </a:t>
            </a:r>
            <a:r>
              <a:rPr lang="th-TH" dirty="0"/>
              <a:t>เลือกจะรัน </a:t>
            </a:r>
            <a:r>
              <a:rPr lang="en-US" dirty="0"/>
              <a:t>P0 </a:t>
            </a:r>
            <a:r>
              <a:rPr lang="th-TH" dirty="0"/>
              <a:t>และ </a:t>
            </a:r>
            <a:r>
              <a:rPr lang="en-US" dirty="0"/>
              <a:t>copy CPU Context </a:t>
            </a:r>
            <a:r>
              <a:rPr lang="th-TH" dirty="0"/>
              <a:t>ของ </a:t>
            </a:r>
            <a:r>
              <a:rPr lang="en-US" dirty="0"/>
              <a:t>P0 </a:t>
            </a:r>
            <a:r>
              <a:rPr lang="th-TH" dirty="0"/>
              <a:t>จาก </a:t>
            </a:r>
            <a:r>
              <a:rPr lang="en-US" dirty="0"/>
              <a:t>memory </a:t>
            </a:r>
            <a:r>
              <a:rPr lang="th-TH" dirty="0"/>
              <a:t>มา </a:t>
            </a:r>
            <a:r>
              <a:rPr lang="en-US" dirty="0"/>
              <a:t>CPU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0941" y="3791521"/>
            <a:ext cx="1150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 Kernel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9713" y="3709487"/>
            <a:ext cx="2231647" cy="533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089674" y="3770543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1360" y="3709487"/>
            <a:ext cx="1150315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105400" y="2876648"/>
            <a:ext cx="0" cy="83283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7441" y="1851944"/>
            <a:ext cx="780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 </a:t>
            </a:r>
            <a:r>
              <a:rPr lang="th-TH" dirty="0"/>
              <a:t>ซึ่งจะทำให้ </a:t>
            </a:r>
            <a:r>
              <a:rPr lang="en-US" dirty="0"/>
              <a:t>Program Counter Register </a:t>
            </a:r>
            <a:r>
              <a:rPr lang="th-TH" dirty="0"/>
              <a:t>ใน </a:t>
            </a:r>
            <a:r>
              <a:rPr lang="en-US" dirty="0"/>
              <a:t>CPU </a:t>
            </a:r>
            <a:r>
              <a:rPr lang="th-TH" dirty="0"/>
              <a:t>เปลี่ยนชี้ไปที่ </a:t>
            </a:r>
            <a:r>
              <a:rPr lang="en-US" dirty="0"/>
              <a:t>Address </a:t>
            </a:r>
            <a:r>
              <a:rPr lang="th-TH" dirty="0"/>
              <a:t>ล่าสุดของ </a:t>
            </a:r>
            <a:r>
              <a:rPr lang="en-US" dirty="0"/>
              <a:t>P0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1256" y="2923735"/>
            <a:ext cx="269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9. CPU </a:t>
            </a:r>
            <a:r>
              <a:rPr lang="th-TH" dirty="0"/>
              <a:t>ประมวลผล </a:t>
            </a:r>
            <a:r>
              <a:rPr lang="en-US" dirty="0"/>
              <a:t>P0 </a:t>
            </a:r>
            <a:r>
              <a:rPr lang="th-TH" dirty="0"/>
              <a:t>ต่อ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777228" y="4803026"/>
            <a:ext cx="49936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 Hardware </a:t>
            </a:r>
            <a:r>
              <a:rPr lang="th-TH" dirty="0"/>
              <a:t>ปล่อย </a:t>
            </a:r>
            <a:r>
              <a:rPr lang="en-US" dirty="0"/>
              <a:t>CPU Timer Interrupt</a:t>
            </a:r>
            <a:r>
              <a:rPr lang="th-TH" dirty="0"/>
              <a:t> ขัดจังหวะการทำงานของ </a:t>
            </a:r>
            <a:r>
              <a:rPr lang="en-US" dirty="0"/>
              <a:t>P0 </a:t>
            </a:r>
            <a:r>
              <a:rPr lang="th-TH" dirty="0"/>
              <a:t>และรัน </a:t>
            </a:r>
            <a:r>
              <a:rPr lang="en-US" dirty="0"/>
              <a:t>Interrupt Handler</a:t>
            </a:r>
            <a:r>
              <a:rPr lang="th-TH" dirty="0"/>
              <a:t> (ส่วนหนึ่งของ </a:t>
            </a:r>
            <a:r>
              <a:rPr lang="en-US" dirty="0"/>
              <a:t>OS kernel)</a:t>
            </a:r>
          </a:p>
          <a:p>
            <a:r>
              <a:rPr lang="en-US" dirty="0"/>
              <a:t>11. Interrupt Handler save context </a:t>
            </a:r>
            <a:r>
              <a:rPr lang="th-TH" dirty="0"/>
              <a:t>ของ </a:t>
            </a:r>
            <a:r>
              <a:rPr lang="en-US" dirty="0"/>
              <a:t>P0 </a:t>
            </a:r>
            <a:r>
              <a:rPr lang="th-TH" dirty="0"/>
              <a:t>และ</a:t>
            </a:r>
            <a:r>
              <a:rPr lang="en-US" dirty="0"/>
              <a:t> </a:t>
            </a:r>
            <a:r>
              <a:rPr lang="th-TH" dirty="0"/>
              <a:t>รับ </a:t>
            </a:r>
            <a:r>
              <a:rPr lang="en-US" dirty="0"/>
              <a:t>code </a:t>
            </a:r>
            <a:r>
              <a:rPr lang="th-TH" dirty="0"/>
              <a:t>ของ </a:t>
            </a:r>
            <a:r>
              <a:rPr lang="en-US" dirty="0"/>
              <a:t>Hander </a:t>
            </a:r>
            <a:r>
              <a:rPr lang="th-TH" dirty="0"/>
              <a:t>และรัน </a:t>
            </a:r>
            <a:r>
              <a:rPr lang="en-US" dirty="0"/>
              <a:t>OS </a:t>
            </a:r>
            <a:r>
              <a:rPr lang="th-TH" dirty="0"/>
              <a:t>ให้ </a:t>
            </a:r>
            <a:r>
              <a:rPr lang="en-US" dirty="0"/>
              <a:t>OS </a:t>
            </a:r>
            <a:r>
              <a:rPr lang="th-TH" dirty="0"/>
              <a:t>พิจารณาว่าจะทำอะไรต่อ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87442" y="2230317"/>
            <a:ext cx="7746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8. OS kernel set Timer Interrupt </a:t>
            </a:r>
            <a:r>
              <a:rPr lang="th-TH" dirty="0"/>
              <a:t>ให้ </a:t>
            </a:r>
            <a:r>
              <a:rPr lang="en-US" dirty="0"/>
              <a:t>= Time Slice (</a:t>
            </a:r>
            <a:r>
              <a:rPr lang="en-US" dirty="0" err="1"/>
              <a:t>eg</a:t>
            </a:r>
            <a:r>
              <a:rPr lang="en-US" dirty="0"/>
              <a:t>. 1000 ns) hardware </a:t>
            </a:r>
            <a:r>
              <a:rPr lang="th-TH" dirty="0"/>
              <a:t>จะ </a:t>
            </a:r>
            <a:r>
              <a:rPr lang="en-US" dirty="0"/>
              <a:t>count down </a:t>
            </a:r>
            <a:r>
              <a:rPr lang="th-TH" dirty="0"/>
              <a:t>จนถึง </a:t>
            </a:r>
            <a:r>
              <a:rPr lang="en-US" dirty="0"/>
              <a:t>0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543800" y="4242886"/>
            <a:ext cx="0" cy="481513"/>
          </a:xfrm>
          <a:prstGeom prst="straightConnector1">
            <a:avLst/>
          </a:prstGeom>
          <a:ln w="2222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60216" y="5541690"/>
            <a:ext cx="2801857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th-TH" dirty="0"/>
              <a:t>จะเป็นอย่างไรถ้า </a:t>
            </a:r>
            <a:r>
              <a:rPr lang="en-US" dirty="0"/>
              <a:t>User Process</a:t>
            </a:r>
          </a:p>
          <a:p>
            <a:r>
              <a:rPr lang="en-US" dirty="0"/>
              <a:t>Set Timer Interrupt </a:t>
            </a:r>
            <a:r>
              <a:rPr lang="th-TH" dirty="0"/>
              <a:t>ได้ </a:t>
            </a:r>
            <a:r>
              <a:rPr lang="en-US" dirty="0"/>
              <a:t>???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5410200" y="3375102"/>
            <a:ext cx="0" cy="33438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463360" y="3709487"/>
            <a:ext cx="203159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FC448-F004-E511-63AD-554934EB6A26}"/>
              </a:ext>
            </a:extLst>
          </p:cNvPr>
          <p:cNvSpPr txBox="1">
            <a:spLocks/>
          </p:cNvSpPr>
          <p:nvPr/>
        </p:nvSpPr>
        <p:spPr>
          <a:xfrm>
            <a:off x="541298" y="26076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Review: Multi-programming CPU Execution</a:t>
            </a:r>
          </a:p>
        </p:txBody>
      </p:sp>
    </p:spTree>
    <p:extLst>
      <p:ext uri="{BB962C8B-B14F-4D97-AF65-F5344CB8AC3E}">
        <p14:creationId xmlns:p14="http://schemas.microsoft.com/office/powerpoint/2010/main" val="1259320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D6A63-ADBE-915F-BABA-0F33ED92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CPU</a:t>
            </a:r>
            <a:r>
              <a:rPr lang="th-TH" dirty="0">
                <a:latin typeface="Dreaming Outloud Pro" panose="03050502040302030504" pitchFamily="66" charset="77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Virtualization</a:t>
            </a:r>
            <a:endParaRPr lang="en-TH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7481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Processor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82000" cy="4648200"/>
          </a:xfrm>
        </p:spPr>
        <p:txBody>
          <a:bodyPr>
            <a:normAutofit fontScale="92500"/>
          </a:bodyPr>
          <a:lstStyle/>
          <a:p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How to execute VM’s Instruction?</a:t>
            </a:r>
          </a:p>
          <a:p>
            <a:pPr lvl="1"/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โดยเฉพาะอย่างยิ่ง </a:t>
            </a:r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instructions</a:t>
            </a:r>
          </a:p>
          <a:p>
            <a:r>
              <a:rPr lang="en-US" sz="3600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Emulation VS. Direct native execution</a:t>
            </a:r>
          </a:p>
          <a:p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Emulation </a:t>
            </a:r>
            <a:r>
              <a:rPr lang="th-TH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คือการแปลงคำสั่ง ทำได้สองวิธีได้แก่</a:t>
            </a:r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endParaRPr lang="th-TH" sz="3600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Interpretation: VMM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อ่านทีละคำสั่งและประมวลผลทีละคำสั่ง</a:t>
            </a:r>
            <a:endParaRPr lang="en-US" sz="3200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Binary translation: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แปลงคำสั่งทีละ </a:t>
            </a:r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block 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ให้เป็นภาษาเครื่องของ </a:t>
            </a:r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หรือเป็นคำสั่งที่รันบน </a:t>
            </a:r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OS 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 แล้วจึงรัน </a:t>
            </a:r>
            <a:r>
              <a:rPr lang="en-US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block </a:t>
            </a:r>
            <a:r>
              <a:rPr lang="th-TH" sz="32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</a:t>
            </a:r>
            <a:endParaRPr lang="en-US" sz="3200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Emulation </a:t>
            </a:r>
            <a:r>
              <a:rPr lang="th-TH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มักจะใช้สำหรับ </a:t>
            </a:r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 </a:t>
            </a:r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ISA </a:t>
            </a:r>
            <a:r>
              <a:rPr lang="th-TH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แตกต่างจาก</a:t>
            </a:r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Host</a:t>
            </a:r>
            <a:r>
              <a:rPr lang="th-TH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sz="3600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ISA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593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Processor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 lnSpcReduction="10000"/>
          </a:bodyPr>
          <a:lstStyle/>
          <a:p>
            <a:r>
              <a:rPr lang="en-US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Emulation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มีประสิทธิภาพต่ำ 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โดยเฉพาะอย่างยิ่งในการ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scan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คำสั่งและประมวลผลทีละคำสั่งในระดับ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High-level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หรือแม้กระทั่งในเรื่องของการแปลงคำสั่งทีละ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block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Direct native execution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มักใช้กับ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same ISA.</a:t>
            </a:r>
            <a:endParaRPr lang="en-US" b="1" u="sng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en-US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Direct native execution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ใช้วิธีส่งคำสั่งไปรันบน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โดยตรงและใช้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Handler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เพื่อจัดการคำสั่งที่มีปัญหา โดยให้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แปลและรันคำสั่งเหบ่านั้นให้ 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เหมือนกับทุ่มงานให้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รันไปก่อน งานที่มีปัญหาค่อยแก้เอาเป็นรายๆไป ถ้าคำสั่งหรืองานที่มีปัญหามีเปอร์เซนต์น้อย ประสิทธิภาพโดยรวมก็จะดี</a:t>
            </a:r>
            <a:endParaRPr lang="en-US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69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Conditions for</a:t>
            </a:r>
            <a:b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</a:br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ISA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 fontScale="85000" lnSpcReduction="10000"/>
          </a:bodyPr>
          <a:lstStyle/>
          <a:p>
            <a:r>
              <a:rPr lang="th-TH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ในระบบแบบ </a:t>
            </a:r>
            <a:r>
              <a:rPr lang="en-US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Native VMM </a:t>
            </a:r>
            <a:r>
              <a:rPr lang="th-TH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 </a:t>
            </a:r>
            <a:r>
              <a:rPr lang="en-US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เป็นเหมือนกับ </a:t>
            </a:r>
            <a:r>
              <a:rPr lang="en-US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ซึ่ง </a:t>
            </a:r>
            <a:r>
              <a:rPr lang="en-US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th-TH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ประมวลผล </a:t>
            </a:r>
            <a:r>
              <a:rPr lang="en-US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 </a:t>
            </a:r>
            <a:r>
              <a:rPr lang="en-US" b="1" u="sng" dirty="0">
                <a:solidFill>
                  <a:srgbClr val="C0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ประมวลผล 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user mode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. 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ปัญหาเกิดขึ้นเพราะ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Guest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คือโปรแกรมที่ประกอบไปด้วยชุดคำสั่งที่หลายๆคำสั่งเป็น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privilege instructions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ISA) 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สมมุติฐาน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Assumptions: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Hardware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ประกอบไปด้วย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processor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Memory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แบบ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Uniformed Memory Access (UMA) 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Processor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ประมวลผลสอง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ได้แก่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&amp; User modes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Subset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ISA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(ได้แก่ </a:t>
            </a:r>
            <a:r>
              <a:rPr lang="en-US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ISA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)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เท่านั้น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กำหนดตำแหน่งเริ่มต้นของ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ของแต่ละ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u="sng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relocation register </a:t>
            </a:r>
          </a:p>
          <a:p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28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Privilege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Privilege Instructions: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ถ้า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ได้รับคำสั่งแบบนี้มันจะมีพฤติกรรมสองแบบคือ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(1)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มันจะรันคำสั่งนี้ให้ก็ต่อเมื่อ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ในขณะนั้นเป็น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(2)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มันจะส่งสัญณาน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ถ้า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ในขณะนั้นเป็น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user 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ยกตัวอย่างเช่น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</a:p>
          <a:p>
            <a:pPr lvl="1"/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LoadPSW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: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load processor status words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เป็นคำสั่งที่ใช้ในการเปลี่ยน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configuration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ต่างๆของ </a:t>
            </a:r>
            <a:r>
              <a:rPr lang="en-US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รวมทั้งเปลี่ยนค่า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mode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ของการทำงานด้วย</a:t>
            </a:r>
            <a:endParaRPr lang="en-US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Set CPU Timer: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กำหนดค่าระยะเวลา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count down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ก่อนที่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hardware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generate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สัญญาน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timer interrupt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ครั้งถัดไป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timer register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Non-privilege: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คำสั่งแบบนี้รันได้ในทุก </a:t>
            </a:r>
            <a:r>
              <a:rPr lang="en-US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mode </a:t>
            </a:r>
          </a:p>
          <a:p>
            <a:pPr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502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VMM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170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6" y="1600200"/>
            <a:ext cx="7412179" cy="184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3810000"/>
            <a:ext cx="86106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เมื่อ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กำหนดค่า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register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ต่างๆของ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ให้เริ่มทำงานให้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หนึ่ง ถ้า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 รันเป็นครั้งแรก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ก็จะหนดค่า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PC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ให้ชี้ไปที่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timer interrupt handler 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แต่ถ้า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ที่จะรันใน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 slice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ถัดไป เป็น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ที่เคยรันมาแล้วมันก็จะโหลด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context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มาที่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และให้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รันต่อ</a:t>
            </a:r>
          </a:p>
          <a:p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(ทำงานใน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system mode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) จะเปลี่ยน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ให้เป็น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user mode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ก่อนที่จะปล่อยให้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 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8463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VMM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5029200"/>
          </a:xfrm>
        </p:spPr>
        <p:txBody>
          <a:bodyPr>
            <a:normAutofit fontScale="92500"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จะนำคำสั่งของ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เข้ามาทำงานทีละคำสั่ง ใน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mode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แต่ปัญหาเกิดขึ้นเนื่องจากคำสั่งของ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มีทั้งส่วนที่เป็น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และส่วนที่เป็น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Apps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ซึ่งในส่วนที่เป็น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อาจมี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instructions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อยู่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instruction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ถูกรันใน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mode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ก็จะเกิด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ขึ้น</a:t>
            </a: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ก็จะเปลี่ยนไปรัน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 handler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ทันที และเปลี่ยน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กลับเป็น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mode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โดยอัตโนมัติ 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ผู้ออกแบบ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เป็นเครื่องมือ กล่าวคือ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 handler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จะพิจารณาว่าคำสั่ง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privilede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instruction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ใดทำให้เกิด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ขึ้นและจะไปรันคำสั่งนั้นให้ แล้วหลังจากนั้นก็จะเปลี่ยน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mode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และกำหนด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PC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ไปรันคำสั่งของ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vm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คำสั่งถัดไป ดัง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slide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ถัดไป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2201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Component of VMM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0482" name="Picture 2" descr="https://www.safaribooksonline.com/library/view/virtual-machines/9781558609105/OEBPS/images/fig8.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59619"/>
            <a:ext cx="5181600" cy="454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6283478"/>
            <a:ext cx="252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e.g. Load new page table</a:t>
            </a:r>
          </a:p>
        </p:txBody>
      </p:sp>
    </p:spTree>
    <p:extLst>
      <p:ext uri="{BB962C8B-B14F-4D97-AF65-F5344CB8AC3E}">
        <p14:creationId xmlns:p14="http://schemas.microsoft.com/office/powerpoint/2010/main" val="2454398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Trap Handler of</a:t>
            </a:r>
            <a:r>
              <a:rPr lang="th-TH" b="1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50292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Dispatcher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ที่พิจารณาว่า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instruction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ที่ทำให้เกิด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และต้องไปเรียก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routine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ใดรันคำสั่งนั้นให้ 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instruction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trap handler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จะรันให้มีสองแบบ</a:t>
            </a: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Allocator: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instruction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ที่กำหนดค่าของระบบคอมพิวเตอร์ เช่น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load relocation register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หรือกำหนดให้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นี้ชี้ไปยัง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page table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App process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นั่นเอง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Interpreter routing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routine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VMM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จะรันให้แทน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Guest OS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เช่นคำสั่ง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 OUT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อ่านเขียนข้อมูลจาก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I/O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ต่างๆ</a:t>
            </a:r>
          </a:p>
        </p:txBody>
      </p:sp>
    </p:spTree>
    <p:extLst>
      <p:ext uri="{BB962C8B-B14F-4D97-AF65-F5344CB8AC3E}">
        <p14:creationId xmlns:p14="http://schemas.microsoft.com/office/powerpoint/2010/main" val="18102204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Critical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5029200"/>
          </a:xfrm>
        </p:spPr>
        <p:txBody>
          <a:bodyPr>
            <a:normAutofit lnSpcReduction="10000"/>
          </a:bodyPr>
          <a:lstStyle/>
          <a:p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แต่อุปสรรคคือ กลไก 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trap </a:t>
            </a:r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ไม่เพียงพอที่จะทำให้ 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VMM </a:t>
            </a:r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ทำงานแทน คำสั่งของ 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guest OS 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ทุกคำสั่ง</a:t>
            </a:r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ได้อย่างถูกต้อง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Critical Instruction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คือคำสั่งไอเอสเอที่รันได้เมื่อ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อยู่ใน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mode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Mode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ซึ่งให้ผลลัพธ์ต่างกันขึ้นอยู่กับโหมดของซีพียู เช่นคำสั่ง 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POPF </a:t>
            </a:r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x-86 </a:t>
            </a:r>
            <a:endParaRPr lang="th-TH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ดักจับและรัน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privilege instruction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guest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os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ได้เพราะ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cpu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รันคำสั่งเหล่านี้ใน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mode 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b="1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แต่ไม่สามารถตรวจจับ </a:t>
            </a:r>
            <a:r>
              <a:rPr lang="en-US" b="1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Critical Instruction </a:t>
            </a:r>
            <a:r>
              <a:rPr lang="th-TH" b="1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ได้ เนื่องจากสามารถรันได้ทั้งใน </a:t>
            </a:r>
            <a:r>
              <a:rPr lang="en-US" b="1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system mode </a:t>
            </a:r>
            <a:r>
              <a:rPr lang="th-TH" b="1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user mode </a:t>
            </a:r>
            <a:r>
              <a:rPr lang="th-TH" b="1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แต่จะมีพฤติกรรมหรือให้ผลลัพธ์ในแต่ละสถานะการณ์ที่แตกต่างกัน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40441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Instruction Comparisons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770167"/>
              </p:ext>
            </p:extLst>
          </p:nvPr>
        </p:nvGraphicFramePr>
        <p:xfrm>
          <a:off x="457200" y="1524000"/>
          <a:ext cx="8229599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293">
                  <a:extLst>
                    <a:ext uri="{9D8B030D-6E8A-4147-A177-3AD203B41FA5}">
                      <a16:colId xmlns:a16="http://schemas.microsoft.com/office/drawing/2014/main" val="2643284055"/>
                    </a:ext>
                  </a:extLst>
                </a:gridCol>
                <a:gridCol w="1966106">
                  <a:extLst>
                    <a:ext uri="{9D8B030D-6E8A-4147-A177-3AD203B41FA5}">
                      <a16:colId xmlns:a16="http://schemas.microsoft.com/office/drawing/2014/main" val="332770725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0786797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Privilege</a:t>
                      </a:r>
                      <a:r>
                        <a:rPr lang="en-US" sz="2000" baseline="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/</a:t>
                      </a:r>
                    </a:p>
                    <a:p>
                      <a:pPr algn="ctr"/>
                      <a:r>
                        <a:rPr lang="en-US" sz="2000" baseline="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Non-privilege</a:t>
                      </a:r>
                      <a:endParaRPr lang="en-US" sz="2000" dirty="0">
                        <a:latin typeface="Dreaming Outloud Pro" panose="03050502040302030504" pitchFamily="66" charset="77"/>
                        <a:ea typeface="MS UI Gothic" panose="020B0600070205080204" pitchFamily="34" charset="-128"/>
                        <a:cs typeface="Dreaming Outloud Pro" panose="03050502040302030504" pitchFamily="66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Sensitive/</a:t>
                      </a:r>
                    </a:p>
                    <a:p>
                      <a:pPr algn="ctr"/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Innocuous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1507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LoadPSW</a:t>
                      </a:r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 (LPSW) (IBM)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Sensitive (control)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6912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Set CPU Timer</a:t>
                      </a:r>
                      <a:r>
                        <a:rPr lang="th-TH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</a:rPr>
                        <a:t> </a:t>
                      </a:r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(SPT) (IBM)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Sensitive (control)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1117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Dreaming Outloud Pro" panose="03050502040302030504" pitchFamily="66" charset="77"/>
                          <a:ea typeface="MS UI Gothic"/>
                          <a:cs typeface="Dreaming Outloud Pro" panose="03050502040302030504" pitchFamily="66" charset="77"/>
                        </a:rPr>
                        <a:t>Pop Stack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Dreaming Outloud Pro" panose="03050502040302030504" pitchFamily="66" charset="77"/>
                          <a:ea typeface="MS UI Gothic"/>
                          <a:cs typeface="Dreaming Outloud Pro" panose="03050502040302030504" pitchFamily="66" charset="77"/>
                        </a:rPr>
                        <a:t> Into Flag </a:t>
                      </a:r>
                      <a:r>
                        <a:rPr lang="en-US" sz="2000" baseline="0">
                          <a:solidFill>
                            <a:srgbClr val="FF0000"/>
                          </a:solidFill>
                          <a:latin typeface="Dreaming Outloud Pro" panose="03050502040302030504" pitchFamily="66" charset="77"/>
                          <a:ea typeface="MS UI Gothic"/>
                          <a:cs typeface="Dreaming Outloud Pro" panose="03050502040302030504" pitchFamily="66" charset="77"/>
                        </a:rPr>
                        <a:t>(x86)</a:t>
                      </a:r>
                      <a:endParaRPr lang="en-US" sz="2000" dirty="0">
                        <a:solidFill>
                          <a:srgbClr val="FF0000"/>
                        </a:solidFill>
                        <a:latin typeface="Dreaming Outloud Pro" panose="03050502040302030504" pitchFamily="66" charset="77"/>
                        <a:ea typeface="MS UI Gothic" panose="020B0600070205080204" pitchFamily="34" charset="-128"/>
                        <a:cs typeface="Dreaming Outloud Pro" panose="03050502040302030504" pitchFamily="66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Non-privilege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Sensitive (behavior)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2943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add (x86)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Non-privilege</a:t>
                      </a:r>
                      <a:r>
                        <a:rPr lang="en-US" sz="2000" baseline="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 </a:t>
                      </a:r>
                      <a:endParaRPr lang="en-US" sz="2000" dirty="0">
                        <a:latin typeface="Dreaming Outloud Pro" panose="03050502040302030504" pitchFamily="66" charset="77"/>
                        <a:ea typeface="MS UI Gothic" panose="020B0600070205080204" pitchFamily="34" charset="-128"/>
                        <a:cs typeface="Dreaming Outloud Pro" panose="03050502040302030504" pitchFamily="66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reaming Outloud Pro" panose="03050502040302030504" pitchFamily="66" charset="77"/>
                          <a:ea typeface="MS UI Gothic" panose="020B0600070205080204" pitchFamily="34" charset="-128"/>
                          <a:cs typeface="Dreaming Outloud Pro" panose="03050502040302030504" pitchFamily="66" charset="77"/>
                        </a:rPr>
                        <a:t>Innocuous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18634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344211"/>
            <a:ext cx="5368920" cy="223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468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Virtualization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828800"/>
            <a:ext cx="7696200" cy="373380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Popek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&amp; Goldberg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กำหนดคุณสมบัติของ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ไว้ดังนี้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Efficiency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privilege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ทุกคำสั่งจะต้องถูก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เมื่อรันในขณะที่ซีพียูประมวลผลใน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User Mode</a:t>
            </a:r>
          </a:p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Resource Control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ไม่สามารถเปลี่ยน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configuration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07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6962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Equivalence: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บน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จะต้องมีพฤติกรรมการประมวลผลเหมือนรันบน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Hardware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จริง 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ยกเว้น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: 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execution overheads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เวลาในการประมวลผลโดยรวมของ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ใดๆอันจากการประมวลผลของ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ที่แทรกเข้ามาระหว่างการประมวลผลของ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แต่ละ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resource limitation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ข้อจำกัดเช่นขนาดของ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Memory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มีจำกัด การสร้าง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แต่ละอันต้องใช้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ซึ่งจำกัด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Hardware time lag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เนื่องจาก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อาจถูกขัดจังหวะด้วยการทำงานของ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อื่น ดังนั้นเวลาระหว่างการ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Execute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คำสั่งสองคำสั่งของ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อาจไม่เท่ากันได้ เวลาที่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hardware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เวลาระหว่างสองคำสั่งจะเท่ากัน แต่ในกรณีของ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จะคาดหวังเช่นนั้นไม่ได้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EC24C1-58FA-E2B4-6A45-16516D05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Virtualization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3120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Theorem 1: Efficient VMM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Dreaming Outloud Pro" panose="03050502040302030504" pitchFamily="66" charset="77"/>
                <a:ea typeface="MS UI Gothic" panose="020B0600070205080204" pitchFamily="34" charset="-128"/>
                <a:cs typeface="Dreaming Outloud Pro" panose="03050502040302030504" pitchFamily="66" charset="77"/>
              </a:rPr>
              <a:t>Theorem 1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conventional third-generation computer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เราสามารถสร้าง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ที่มีประสิทธิภาพได้ ถ้าคำสั่ง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Set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Sensitive Instructions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นั้นเป็น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Subset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Set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Privilege Instructions</a:t>
            </a:r>
            <a:endParaRPr lang="th-TH" dirty="0"/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ไม่มีคำสั่งที่เปลี่ยน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configuration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หรือที่ได้รับผลจากการเปลี่ยน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configuration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ใดๆของ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ที่ไม่ถูก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และจัดการโดย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12" y="4572000"/>
            <a:ext cx="39909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961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Example 1: Running LPSW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32284"/>
            <a:ext cx="6967242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2309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Example 2: Running SPT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Set timer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table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สำหรับเก็บค่า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timer interrupt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ของแต่ละ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กำหนดให้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แต่ละเครื่องมี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 slice = 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Guest OS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กำหนดให้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time slice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ของแต่ละ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Process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ซึ่งมีค่า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&lt;= T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ถ้า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Process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หนึ่งรันบน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ไปได้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t0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แล้ว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หมด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Time Slice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เมื่อ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resume 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นั้นเข้ามาใช้งาน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อีกครั้ง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Process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นั้นก็จะทำงานต่อในเวลาที่เหลืออยู่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(t1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ในภาพ)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5334000"/>
            <a:ext cx="3810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00300" y="5486400"/>
            <a:ext cx="12192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23950" y="5486400"/>
            <a:ext cx="12192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76650" y="5486400"/>
            <a:ext cx="81915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5486400"/>
            <a:ext cx="3810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05400" y="5334000"/>
            <a:ext cx="3200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105400" y="5482388"/>
            <a:ext cx="685800" cy="3850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829300" y="5482388"/>
            <a:ext cx="12192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86600" y="5478462"/>
            <a:ext cx="12192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031191" y="6070312"/>
            <a:ext cx="1119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 &lt;=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8064" y="5384512"/>
            <a:ext cx="322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79" y="5384512"/>
            <a:ext cx="530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6591" y="5374867"/>
            <a:ext cx="530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5755" y="6070312"/>
            <a:ext cx="17972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 = t0 + t1</a:t>
            </a:r>
          </a:p>
        </p:txBody>
      </p:sp>
    </p:spTree>
    <p:extLst>
      <p:ext uri="{BB962C8B-B14F-4D97-AF65-F5344CB8AC3E}">
        <p14:creationId xmlns:p14="http://schemas.microsoft.com/office/powerpoint/2010/main" val="21310468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>
          <a:xfrm>
            <a:off x="2420354" y="5181600"/>
            <a:ext cx="2913646" cy="1295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98390" y="3996571"/>
            <a:ext cx="1768610" cy="3659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1974" y="399657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3042" y="2653458"/>
            <a:ext cx="743691" cy="3777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86600" y="67818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00200" y="2653458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3" name="Rectangle 2"/>
          <p:cNvSpPr/>
          <p:nvPr/>
        </p:nvSpPr>
        <p:spPr>
          <a:xfrm>
            <a:off x="2420354" y="3996572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72540" y="4696207"/>
            <a:ext cx="9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SPT 100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667000" y="3031158"/>
            <a:ext cx="0" cy="960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198133" y="2665240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2944771" y="1886618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426733" y="3031158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438171" y="3987605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3042190" y="3250648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85985" y="4005465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4084499" y="5793813"/>
            <a:ext cx="807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SPT 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3322" y="5416460"/>
            <a:ext cx="1196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</a:t>
            </a:r>
          </a:p>
          <a:p>
            <a:r>
              <a:rPr lang="en-US" dirty="0"/>
              <a:t>Dispatcher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0316" y="5424481"/>
            <a:ext cx="1026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Allocator</a:t>
            </a:r>
          </a:p>
        </p:txBody>
      </p:sp>
      <p:cxnSp>
        <p:nvCxnSpPr>
          <p:cNvPr id="32" name="Straight Arrow Connector 31"/>
          <p:cNvCxnSpPr>
            <a:stCxn id="26" idx="0"/>
          </p:cNvCxnSpPr>
          <p:nvPr/>
        </p:nvCxnSpPr>
        <p:spPr>
          <a:xfrm flipV="1">
            <a:off x="3201723" y="4371384"/>
            <a:ext cx="309445" cy="1045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0"/>
            <a:endCxn id="93" idx="2"/>
          </p:cNvCxnSpPr>
          <p:nvPr/>
        </p:nvCxnSpPr>
        <p:spPr>
          <a:xfrm flipH="1" flipV="1">
            <a:off x="3700285" y="4371383"/>
            <a:ext cx="743217" cy="1053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V="1">
            <a:off x="3930316" y="1655820"/>
            <a:ext cx="0" cy="233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3934890" y="1286295"/>
            <a:ext cx="2862307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4648" y="18690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04131" y="3996572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6934201" y="3996571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7149415" y="2659348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7292870" y="2659349"/>
            <a:ext cx="743691" cy="3777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7162801" y="3022790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6790264" y="1655820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354" y="5437514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22" name="Straight Arrow Connector 121"/>
          <p:cNvCxnSpPr>
            <a:stCxn id="120" idx="0"/>
            <a:endCxn id="103" idx="2"/>
          </p:cNvCxnSpPr>
          <p:nvPr/>
        </p:nvCxnSpPr>
        <p:spPr>
          <a:xfrm flipV="1">
            <a:off x="6790265" y="4371383"/>
            <a:ext cx="258236" cy="1066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7391400" y="5105400"/>
            <a:ext cx="974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 what</a:t>
            </a:r>
          </a:p>
          <a:p>
            <a:r>
              <a:rPr lang="en-US" dirty="0"/>
              <a:t>Here? </a:t>
            </a:r>
          </a:p>
        </p:txBody>
      </p:sp>
      <p:cxnSp>
        <p:nvCxnSpPr>
          <p:cNvPr id="126" name="Straight Arrow Connector 125"/>
          <p:cNvCxnSpPr>
            <a:stCxn id="124" idx="0"/>
          </p:cNvCxnSpPr>
          <p:nvPr/>
        </p:nvCxnSpPr>
        <p:spPr>
          <a:xfrm flipH="1" flipV="1">
            <a:off x="7086600" y="4371383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7794576" y="2665240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1495566" y="5367635"/>
            <a:ext cx="9092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Trap</a:t>
            </a:r>
          </a:p>
          <a:p>
            <a:r>
              <a:rPr lang="en-US" dirty="0"/>
              <a:t>handler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07313" y="1881141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8015837" y="3039089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8027275" y="3995536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7727967" y="3273339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75089" y="4013396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8519420" y="1655820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8519420" y="1286295"/>
            <a:ext cx="330605" cy="373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/>
          <p:cNvSpPr txBox="1"/>
          <p:nvPr/>
        </p:nvSpPr>
        <p:spPr>
          <a:xfrm>
            <a:off x="5056909" y="1279314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781734" y="3250648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6" name="Down Arrow 5"/>
          <p:cNvSpPr/>
          <p:nvPr/>
        </p:nvSpPr>
        <p:spPr>
          <a:xfrm>
            <a:off x="3229226" y="2316386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>
            <a:off x="7833155" y="2328171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2420354" y="4379315"/>
            <a:ext cx="246646" cy="316892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3039089"/>
            <a:ext cx="9144000" cy="381891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13600" y="1267443"/>
            <a:ext cx="1946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Guest OS </a:t>
            </a:r>
          </a:p>
          <a:p>
            <a:r>
              <a:rPr lang="th-TH" dirty="0"/>
              <a:t>กำหนดให้แต่ละ </a:t>
            </a:r>
          </a:p>
          <a:p>
            <a:r>
              <a:rPr lang="en-US" dirty="0"/>
              <a:t>P </a:t>
            </a:r>
            <a:r>
              <a:rPr lang="th-TH" dirty="0"/>
              <a:t>มี </a:t>
            </a:r>
            <a:r>
              <a:rPr lang="en-US" dirty="0"/>
              <a:t>Time Slice = 40</a:t>
            </a:r>
          </a:p>
        </p:txBody>
      </p:sp>
    </p:spTree>
    <p:extLst>
      <p:ext uri="{BB962C8B-B14F-4D97-AF65-F5344CB8AC3E}">
        <p14:creationId xmlns:p14="http://schemas.microsoft.com/office/powerpoint/2010/main" val="21588399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>
          <a:xfrm>
            <a:off x="2420354" y="5181600"/>
            <a:ext cx="2913646" cy="1295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98390" y="3996571"/>
            <a:ext cx="1768610" cy="3659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1974" y="399657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3042" y="2653458"/>
            <a:ext cx="743691" cy="3777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86600" y="67818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00200" y="2653458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3" name="Rectangle 2"/>
          <p:cNvSpPr/>
          <p:nvPr/>
        </p:nvSpPr>
        <p:spPr>
          <a:xfrm>
            <a:off x="2420354" y="3996572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72540" y="4696207"/>
            <a:ext cx="9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SPT 100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667000" y="3031158"/>
            <a:ext cx="0" cy="960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198133" y="2665240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2944771" y="1886618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426733" y="3031158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438171" y="3987605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3042190" y="3250648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85985" y="4005465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4071893" y="5766074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3322" y="5416460"/>
            <a:ext cx="1196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</a:t>
            </a:r>
          </a:p>
          <a:p>
            <a:r>
              <a:rPr lang="en-US" dirty="0"/>
              <a:t>Dispatcher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0316" y="5424481"/>
            <a:ext cx="1026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Allocator</a:t>
            </a:r>
          </a:p>
        </p:txBody>
      </p:sp>
      <p:cxnSp>
        <p:nvCxnSpPr>
          <p:cNvPr id="32" name="Straight Arrow Connector 31"/>
          <p:cNvCxnSpPr>
            <a:stCxn id="26" idx="0"/>
          </p:cNvCxnSpPr>
          <p:nvPr/>
        </p:nvCxnSpPr>
        <p:spPr>
          <a:xfrm flipV="1">
            <a:off x="3201723" y="4371384"/>
            <a:ext cx="309445" cy="1045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0"/>
            <a:endCxn id="93" idx="2"/>
          </p:cNvCxnSpPr>
          <p:nvPr/>
        </p:nvCxnSpPr>
        <p:spPr>
          <a:xfrm flipH="1" flipV="1">
            <a:off x="3700285" y="4371383"/>
            <a:ext cx="743217" cy="1053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V="1">
            <a:off x="3930316" y="1655820"/>
            <a:ext cx="0" cy="233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3934890" y="1286295"/>
            <a:ext cx="2862307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056909" y="8589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04131" y="3996572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6934201" y="3996571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7149415" y="2659348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7292870" y="2659349"/>
            <a:ext cx="743691" cy="3777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7162801" y="3022790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6790264" y="1655820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354" y="5437514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22" name="Straight Arrow Connector 121"/>
          <p:cNvCxnSpPr>
            <a:stCxn id="120" idx="0"/>
            <a:endCxn id="103" idx="2"/>
          </p:cNvCxnSpPr>
          <p:nvPr/>
        </p:nvCxnSpPr>
        <p:spPr>
          <a:xfrm flipV="1">
            <a:off x="6790265" y="4371383"/>
            <a:ext cx="258236" cy="1066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124" idx="0"/>
          </p:cNvCxnSpPr>
          <p:nvPr/>
        </p:nvCxnSpPr>
        <p:spPr>
          <a:xfrm flipH="1" flipV="1">
            <a:off x="7086600" y="4371383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7794576" y="2665240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1495566" y="5367635"/>
            <a:ext cx="9092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Trap</a:t>
            </a:r>
          </a:p>
          <a:p>
            <a:r>
              <a:rPr lang="en-US" dirty="0"/>
              <a:t>handler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07313" y="1881141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8015837" y="3039089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8027275" y="3995536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7727967" y="3273339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75089" y="4013396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8519420" y="1655820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5056909" y="1279314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781734" y="3250648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6" name="Down Arrow 5"/>
          <p:cNvSpPr/>
          <p:nvPr/>
        </p:nvSpPr>
        <p:spPr>
          <a:xfrm>
            <a:off x="3229226" y="2316386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>
            <a:off x="7833155" y="2328171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2420354" y="4379315"/>
            <a:ext cx="246646" cy="316892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77541" y="1425228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7541" y="4740532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6900" y="5105400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57984" y="4572410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034" y="3092469"/>
            <a:ext cx="21050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กำหนดให้ </a:t>
            </a:r>
            <a:r>
              <a:rPr lang="en-US" dirty="0"/>
              <a:t>CPU </a:t>
            </a:r>
            <a:endParaRPr lang="th-TH" dirty="0"/>
          </a:p>
          <a:p>
            <a:r>
              <a:rPr lang="th-TH" dirty="0"/>
              <a:t>ไปรัน </a:t>
            </a:r>
            <a:r>
              <a:rPr lang="en-US" dirty="0"/>
              <a:t>Guest OS</a:t>
            </a:r>
          </a:p>
          <a:p>
            <a:r>
              <a:rPr lang="th-TH" dirty="0"/>
              <a:t>ของ </a:t>
            </a:r>
            <a:r>
              <a:rPr lang="en-US" dirty="0"/>
              <a:t>vm0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897052" y="3544482"/>
            <a:ext cx="705193" cy="3275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519420" y="1286295"/>
            <a:ext cx="330605" cy="373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772595" y="14067"/>
            <a:ext cx="247394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/>
              <a:t>vm0 Time Slice </a:t>
            </a:r>
            <a:r>
              <a:rPr lang="th-TH" dirty="0"/>
              <a:t>เหลือ </a:t>
            </a:r>
            <a:endParaRPr lang="en-US" dirty="0"/>
          </a:p>
          <a:p>
            <a:r>
              <a:rPr lang="en-US" dirty="0"/>
              <a:t>100 – 40 = 60</a:t>
            </a:r>
            <a:endParaRPr lang="th-TH" dirty="0"/>
          </a:p>
        </p:txBody>
      </p:sp>
      <p:sp>
        <p:nvSpPr>
          <p:cNvPr id="2" name="Freeform 1"/>
          <p:cNvSpPr/>
          <p:nvPr/>
        </p:nvSpPr>
        <p:spPr>
          <a:xfrm>
            <a:off x="6362333" y="732491"/>
            <a:ext cx="635899" cy="3089120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7086600" y="311987"/>
            <a:ext cx="20700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 err="1"/>
              <a:t>Spt</a:t>
            </a:r>
            <a:r>
              <a:rPr lang="th-TH" dirty="0"/>
              <a:t> ที่ขอ </a:t>
            </a:r>
            <a:r>
              <a:rPr lang="en-US" dirty="0"/>
              <a:t>40 &lt; 60</a:t>
            </a:r>
            <a:endParaRPr lang="th-TH" dirty="0"/>
          </a:p>
        </p:txBody>
      </p:sp>
      <p:sp>
        <p:nvSpPr>
          <p:cNvPr id="60" name="Freeform 59"/>
          <p:cNvSpPr/>
          <p:nvPr/>
        </p:nvSpPr>
        <p:spPr>
          <a:xfrm>
            <a:off x="8118026" y="1104398"/>
            <a:ext cx="151364" cy="2803251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2486107" y="343941"/>
            <a:ext cx="20700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 err="1"/>
              <a:t>Spt</a:t>
            </a:r>
            <a:r>
              <a:rPr lang="th-TH" dirty="0"/>
              <a:t> ที่ขอ </a:t>
            </a:r>
            <a:r>
              <a:rPr lang="en-US" dirty="0"/>
              <a:t>40 &lt; 100</a:t>
            </a:r>
            <a:endParaRPr lang="th-TH" dirty="0"/>
          </a:p>
        </p:txBody>
      </p:sp>
      <p:sp>
        <p:nvSpPr>
          <p:cNvPr id="62" name="Freeform 61"/>
          <p:cNvSpPr/>
          <p:nvPr/>
        </p:nvSpPr>
        <p:spPr>
          <a:xfrm>
            <a:off x="3517533" y="1136352"/>
            <a:ext cx="151364" cy="2803251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1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7" grpId="0" animBg="1"/>
      <p:bldP spid="2" grpId="0" animBg="1"/>
      <p:bldP spid="58" grpId="0" animBg="1"/>
      <p:bldP spid="60" grpId="0" animBg="1"/>
      <p:bldP spid="61" grpId="0" animBg="1"/>
      <p:bldP spid="6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1974" y="399657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9770" y="1269470"/>
            <a:ext cx="2862307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318852" y="17484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85944" y="3979747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3216014" y="3979746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3430275" y="2682842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3576351" y="2683673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3444614" y="3005965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3072077" y="1638995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556167" y="5420689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22" name="Straight Arrow Connector 121"/>
          <p:cNvCxnSpPr/>
          <p:nvPr/>
        </p:nvCxnSpPr>
        <p:spPr>
          <a:xfrm flipV="1">
            <a:off x="3031651" y="4406384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3673213" y="5088575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126" name="Straight Arrow Connector 125"/>
          <p:cNvCxnSpPr>
            <a:stCxn id="124" idx="0"/>
          </p:cNvCxnSpPr>
          <p:nvPr/>
        </p:nvCxnSpPr>
        <p:spPr>
          <a:xfrm flipH="1" flipV="1">
            <a:off x="3368413" y="4354558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4133378" y="2702176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3789126" y="1864316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4297650" y="3022264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4309088" y="3978711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4009780" y="3256514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456902" y="3996571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4801233" y="1638995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4801233" y="1269470"/>
            <a:ext cx="1342921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/>
          <p:cNvSpPr txBox="1"/>
          <p:nvPr/>
        </p:nvSpPr>
        <p:spPr>
          <a:xfrm>
            <a:off x="1318852" y="1269663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063547" y="3233823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4114968" y="2311346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1974" y="1880791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74" y="4740532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14335" y="4532376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67457" y="17653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50909" y="3970780"/>
            <a:ext cx="123141" cy="383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74051" y="3973821"/>
            <a:ext cx="964950" cy="3807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6137042" y="1646926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242229" y="5145325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V="1">
            <a:off x="5838836" y="4414315"/>
            <a:ext cx="389225" cy="721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311488" y="5145325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Chose</a:t>
            </a:r>
          </a:p>
          <a:p>
            <a:r>
              <a:rPr lang="en-US" dirty="0"/>
              <a:t>VM1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98997" y="3978711"/>
            <a:ext cx="1022488" cy="39383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7321485" y="2650687"/>
            <a:ext cx="743691" cy="3777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6424259" y="2635598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74839" y="3978712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6568072" y="4565275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100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 flipV="1">
            <a:off x="7321485" y="3013298"/>
            <a:ext cx="0" cy="960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852618" y="2647380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7563579" y="1946988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60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8081218" y="3013298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8092656" y="3969745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7502238" y="3269353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40470" y="3987605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/>
          <p:cNvCxnSpPr/>
          <p:nvPr/>
        </p:nvCxnSpPr>
        <p:spPr>
          <a:xfrm flipV="1">
            <a:off x="8584801" y="1412371"/>
            <a:ext cx="0" cy="255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8015411" y="4565275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60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09753" y="1269663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5068" y="67038"/>
            <a:ext cx="247394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/>
              <a:t>VM Time Slice </a:t>
            </a:r>
            <a:r>
              <a:rPr lang="th-TH" dirty="0"/>
              <a:t>เหลือ </a:t>
            </a:r>
            <a:endParaRPr lang="en-US" dirty="0"/>
          </a:p>
          <a:p>
            <a:r>
              <a:rPr lang="en-US" dirty="0"/>
              <a:t>100 – 80 = 20</a:t>
            </a:r>
            <a:endParaRPr lang="th-TH" dirty="0"/>
          </a:p>
        </p:txBody>
      </p:sp>
      <p:sp>
        <p:nvSpPr>
          <p:cNvPr id="54" name="Freeform 53"/>
          <p:cNvSpPr/>
          <p:nvPr/>
        </p:nvSpPr>
        <p:spPr>
          <a:xfrm>
            <a:off x="3095160" y="838201"/>
            <a:ext cx="134768" cy="3048000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3650497" y="9142"/>
            <a:ext cx="207000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 err="1"/>
              <a:t>Spt</a:t>
            </a:r>
            <a:r>
              <a:rPr lang="th-TH" dirty="0"/>
              <a:t> ที่ขอ </a:t>
            </a:r>
            <a:r>
              <a:rPr lang="en-US" dirty="0"/>
              <a:t>40 &gt; 20</a:t>
            </a:r>
          </a:p>
          <a:p>
            <a:r>
              <a:rPr lang="th-TH" dirty="0"/>
              <a:t>จึงให้ได้แค่ </a:t>
            </a:r>
            <a:r>
              <a:rPr lang="en-US" dirty="0"/>
              <a:t>20 </a:t>
            </a:r>
            <a:r>
              <a:rPr lang="th-TH" dirty="0"/>
              <a:t>ที่เหลือ</a:t>
            </a:r>
          </a:p>
          <a:p>
            <a:r>
              <a:rPr lang="en-US" dirty="0"/>
              <a:t>20 </a:t>
            </a:r>
            <a:r>
              <a:rPr lang="th-TH" dirty="0"/>
              <a:t>ทดไปรอบหน้า</a:t>
            </a:r>
          </a:p>
        </p:txBody>
      </p:sp>
      <p:sp>
        <p:nvSpPr>
          <p:cNvPr id="57" name="Freeform 56"/>
          <p:cNvSpPr/>
          <p:nvPr/>
        </p:nvSpPr>
        <p:spPr>
          <a:xfrm>
            <a:off x="4392713" y="1269389"/>
            <a:ext cx="208671" cy="2581899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6231323" y="728639"/>
            <a:ext cx="207000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/>
              <a:t>Time Slice </a:t>
            </a:r>
            <a:r>
              <a:rPr lang="th-TH" dirty="0"/>
              <a:t>ของ </a:t>
            </a:r>
            <a:r>
              <a:rPr lang="en-US" dirty="0"/>
              <a:t>vm0 </a:t>
            </a:r>
          </a:p>
          <a:p>
            <a:r>
              <a:rPr lang="th-TH" dirty="0"/>
              <a:t>หมด เลือก </a:t>
            </a:r>
            <a:r>
              <a:rPr lang="en-US" dirty="0"/>
              <a:t>vm1</a:t>
            </a:r>
          </a:p>
        </p:txBody>
      </p:sp>
      <p:sp>
        <p:nvSpPr>
          <p:cNvPr id="59" name="Freeform 58"/>
          <p:cNvSpPr/>
          <p:nvPr/>
        </p:nvSpPr>
        <p:spPr>
          <a:xfrm flipH="1">
            <a:off x="6416434" y="1717663"/>
            <a:ext cx="139787" cy="2205202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5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1974" y="399657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9770" y="1269470"/>
            <a:ext cx="2862307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318852" y="17484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85944" y="3979747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3216014" y="3979746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3430275" y="2682842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3576351" y="2683673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3444614" y="3005965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3072077" y="1638995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556167" y="5420689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22" name="Straight Arrow Connector 121"/>
          <p:cNvCxnSpPr/>
          <p:nvPr/>
        </p:nvCxnSpPr>
        <p:spPr>
          <a:xfrm flipV="1">
            <a:off x="3031651" y="4406384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3673213" y="5088575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126" name="Straight Arrow Connector 125"/>
          <p:cNvCxnSpPr>
            <a:stCxn id="124" idx="0"/>
          </p:cNvCxnSpPr>
          <p:nvPr/>
        </p:nvCxnSpPr>
        <p:spPr>
          <a:xfrm flipH="1" flipV="1">
            <a:off x="3368413" y="4354558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4133378" y="2702176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3789126" y="1864316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60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4297650" y="3022264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4309088" y="3978711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4009780" y="3256514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456902" y="3996571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4801233" y="1638995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4801233" y="1269470"/>
            <a:ext cx="1342921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/>
          <p:cNvSpPr txBox="1"/>
          <p:nvPr/>
        </p:nvSpPr>
        <p:spPr>
          <a:xfrm>
            <a:off x="1318852" y="1269663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063547" y="3233823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4114968" y="2311346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1974" y="1880791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74" y="4740532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14335" y="4532376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67457" y="17653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50909" y="3970780"/>
            <a:ext cx="123141" cy="383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274051" y="3973821"/>
            <a:ext cx="964950" cy="3807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6137042" y="1646926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242229" y="5145325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V="1">
            <a:off x="5838836" y="4414315"/>
            <a:ext cx="389225" cy="721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311488" y="5145325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Chose</a:t>
            </a:r>
          </a:p>
          <a:p>
            <a:r>
              <a:rPr lang="en-US" dirty="0"/>
              <a:t>VM0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98997" y="3978712"/>
            <a:ext cx="1022488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6424259" y="2635598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74839" y="3978712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6568072" y="4565275"/>
            <a:ext cx="870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20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83001" y="1269663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83289" y="1269470"/>
            <a:ext cx="1342921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7283290" y="1621134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749513" y="17778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45724" y="1253907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1837" y="2593804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5946" y="154069"/>
            <a:ext cx="318302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เมื่อเลือก </a:t>
            </a:r>
            <a:r>
              <a:rPr lang="en-US" dirty="0"/>
              <a:t>vm0 </a:t>
            </a:r>
            <a:r>
              <a:rPr lang="th-TH" dirty="0"/>
              <a:t>แล้ว </a:t>
            </a:r>
            <a:r>
              <a:rPr lang="en-US" dirty="0"/>
              <a:t>VMM </a:t>
            </a:r>
            <a:r>
              <a:rPr lang="th-TH" dirty="0"/>
              <a:t>พิจารณาว่า </a:t>
            </a:r>
            <a:r>
              <a:rPr lang="en-US" dirty="0"/>
              <a:t>P0 </a:t>
            </a:r>
            <a:r>
              <a:rPr lang="th-TH" dirty="0"/>
              <a:t>มีเวลาเหลือจากรอบที่แล้ว </a:t>
            </a:r>
            <a:r>
              <a:rPr lang="en-US" dirty="0"/>
              <a:t>=</a:t>
            </a:r>
            <a:r>
              <a:rPr lang="th-TH" dirty="0"/>
              <a:t> </a:t>
            </a:r>
            <a:r>
              <a:rPr lang="en-US" dirty="0"/>
              <a:t>20 &lt; 100</a:t>
            </a:r>
            <a:endParaRPr lang="th-TH" dirty="0"/>
          </a:p>
        </p:txBody>
      </p:sp>
      <p:sp>
        <p:nvSpPr>
          <p:cNvPr id="49" name="Freeform 48"/>
          <p:cNvSpPr/>
          <p:nvPr/>
        </p:nvSpPr>
        <p:spPr>
          <a:xfrm flipH="1">
            <a:off x="6434309" y="1134070"/>
            <a:ext cx="302173" cy="2862501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2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380" y="392691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78706" y="3943270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1708776" y="3943269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923037" y="2646365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2069113" y="2647196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1937376" y="2969488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1564839" y="1602518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75774" y="5620475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22" name="Straight Arrow Connector 121"/>
          <p:cNvCxnSpPr/>
          <p:nvPr/>
        </p:nvCxnSpPr>
        <p:spPr>
          <a:xfrm flipV="1">
            <a:off x="1524413" y="4369907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2165975" y="5052098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126" name="Straight Arrow Connector 125"/>
          <p:cNvCxnSpPr>
            <a:stCxn id="124" idx="0"/>
          </p:cNvCxnSpPr>
          <p:nvPr/>
        </p:nvCxnSpPr>
        <p:spPr>
          <a:xfrm flipH="1" flipV="1">
            <a:off x="1861175" y="4318081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2626140" y="2665699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2281888" y="1827839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2790412" y="2985787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2801850" y="3942234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2502542" y="3220037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949664" y="3960094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3293995" y="1602518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3293995" y="1232993"/>
            <a:ext cx="1342921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458556" y="3252612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2607730" y="2274869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1974" y="1880791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74" y="4740532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07097" y="4495899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60219" y="17288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68214" y="3944231"/>
            <a:ext cx="123141" cy="383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7591356" y="3947272"/>
            <a:ext cx="964950" cy="3807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7454347" y="1620377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121005" y="5620475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V="1">
            <a:off x="7081287" y="4387767"/>
            <a:ext cx="464079" cy="845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628793" y="5118776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Chose</a:t>
            </a:r>
          </a:p>
          <a:p>
            <a:r>
              <a:rPr lang="en-US" dirty="0"/>
              <a:t>VM1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16302" y="3952163"/>
            <a:ext cx="1022488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7741564" y="2609049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92144" y="3952163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7885377" y="4538726"/>
            <a:ext cx="870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20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5763" y="1233186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8600595" y="1594585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653922" y="3943270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783992" y="3943269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4998253" y="2646365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144329" y="2647196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5012592" y="2969488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4640055" y="1602518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4599629" y="4369907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241191" y="5052098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61" name="Straight Arrow Connector 60"/>
          <p:cNvCxnSpPr>
            <a:stCxn id="60" idx="0"/>
          </p:cNvCxnSpPr>
          <p:nvPr/>
        </p:nvCxnSpPr>
        <p:spPr>
          <a:xfrm flipH="1" flipV="1">
            <a:off x="4936391" y="4318081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701356" y="2665699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357104" y="1827839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865628" y="2985787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877066" y="3942234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5577758" y="3220037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24880" y="3960094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6369211" y="1602518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Down Arrow 68"/>
          <p:cNvSpPr/>
          <p:nvPr/>
        </p:nvSpPr>
        <p:spPr>
          <a:xfrm>
            <a:off x="5682946" y="2274869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782313" y="4495899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83066" y="1259426"/>
            <a:ext cx="1071281" cy="4146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6687070" y="1318383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27383" y="2579608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40230" y="5372435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85059" y="18133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277" y="85499"/>
            <a:ext cx="228414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/>
              <a:t>vm0 Time Slice </a:t>
            </a:r>
            <a:r>
              <a:rPr lang="th-TH" dirty="0"/>
              <a:t>เหลือ </a:t>
            </a:r>
            <a:endParaRPr lang="en-US" dirty="0"/>
          </a:p>
          <a:p>
            <a:r>
              <a:rPr lang="en-US" dirty="0"/>
              <a:t>100 – 20 = 80</a:t>
            </a:r>
            <a:endParaRPr lang="th-TH" dirty="0"/>
          </a:p>
        </p:txBody>
      </p:sp>
      <p:sp>
        <p:nvSpPr>
          <p:cNvPr id="89" name="Freeform 88"/>
          <p:cNvSpPr/>
          <p:nvPr/>
        </p:nvSpPr>
        <p:spPr>
          <a:xfrm>
            <a:off x="1634070" y="1008829"/>
            <a:ext cx="136844" cy="2873721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2257183" y="258178"/>
            <a:ext cx="20700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VMM </a:t>
            </a:r>
            <a:r>
              <a:rPr lang="th-TH" dirty="0"/>
              <a:t>พิจารณาว่า</a:t>
            </a:r>
          </a:p>
          <a:p>
            <a:r>
              <a:rPr lang="en-US" dirty="0" err="1"/>
              <a:t>Spt</a:t>
            </a:r>
            <a:r>
              <a:rPr lang="th-TH" dirty="0"/>
              <a:t> ที่ขอ </a:t>
            </a:r>
            <a:r>
              <a:rPr lang="en-US" dirty="0"/>
              <a:t>40 &lt; 80</a:t>
            </a:r>
            <a:endParaRPr lang="th-TH" dirty="0"/>
          </a:p>
        </p:txBody>
      </p:sp>
      <p:sp>
        <p:nvSpPr>
          <p:cNvPr id="91" name="Freeform 90"/>
          <p:cNvSpPr/>
          <p:nvPr/>
        </p:nvSpPr>
        <p:spPr>
          <a:xfrm>
            <a:off x="3050433" y="922370"/>
            <a:ext cx="59529" cy="2975988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9" grpId="0" animBg="1"/>
      <p:bldP spid="90" grpId="0" animBg="1"/>
      <p:bldP spid="9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1974" y="399657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46287" y="1284591"/>
            <a:ext cx="1160793" cy="351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226594" y="175981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20947" y="3994867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2251017" y="3994866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2465278" y="2697962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2611354" y="2698793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2479617" y="3021085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2107080" y="1654115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591170" y="5435809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22" name="Straight Arrow Connector 121"/>
          <p:cNvCxnSpPr/>
          <p:nvPr/>
        </p:nvCxnSpPr>
        <p:spPr>
          <a:xfrm flipV="1">
            <a:off x="2066654" y="4421504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2708216" y="5103695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126" name="Straight Arrow Connector 125"/>
          <p:cNvCxnSpPr>
            <a:stCxn id="124" idx="0"/>
          </p:cNvCxnSpPr>
          <p:nvPr/>
        </p:nvCxnSpPr>
        <p:spPr>
          <a:xfrm flipH="1" flipV="1">
            <a:off x="2403416" y="4369678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3168381" y="2717296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2824129" y="1879436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60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3332653" y="3037384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3344091" y="3993831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3044783" y="3271634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491905" y="4011691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3836236" y="1654115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3836236" y="1284590"/>
            <a:ext cx="1342921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/>
          <p:cNvSpPr txBox="1"/>
          <p:nvPr/>
        </p:nvSpPr>
        <p:spPr>
          <a:xfrm>
            <a:off x="1226594" y="1316439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8550" y="3248943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3149971" y="2326466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1974" y="1880791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74" y="4740532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9338" y="4547496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02460" y="17804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70302" y="4047167"/>
            <a:ext cx="123141" cy="383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7793444" y="4050208"/>
            <a:ext cx="964950" cy="3807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7656435" y="1723313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30881" y="5221712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Chose</a:t>
            </a:r>
          </a:p>
          <a:p>
            <a:r>
              <a:rPr lang="en-US" dirty="0"/>
              <a:t>VM0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18390" y="4055099"/>
            <a:ext cx="1022488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7943652" y="2711985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94232" y="4055099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8212556" y="4602756"/>
            <a:ext cx="987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100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18004" y="1284783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8802683" y="2991364"/>
            <a:ext cx="20149" cy="1063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268906" y="18541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5117" y="1330294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9373" y="2622032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75597" y="3986935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305667" y="3986934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519928" y="2690030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666004" y="2690861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5534267" y="3013153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161730" y="1646183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645820" y="5427877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5121304" y="4413572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762866" y="5095763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64" name="Straight Arrow Connector 63"/>
          <p:cNvCxnSpPr>
            <a:stCxn id="63" idx="0"/>
          </p:cNvCxnSpPr>
          <p:nvPr/>
        </p:nvCxnSpPr>
        <p:spPr>
          <a:xfrm flipH="1" flipV="1">
            <a:off x="5458066" y="4361746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223031" y="2709364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5878779" y="1871504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60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6387303" y="3029452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398741" y="3985899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6099433" y="3263702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46555" y="4003759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/>
          <p:nvPr/>
        </p:nvCxnSpPr>
        <p:spPr>
          <a:xfrm flipV="1">
            <a:off x="6890886" y="1646183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890887" y="1276659"/>
            <a:ext cx="779416" cy="4044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Down Arrow 81"/>
          <p:cNvSpPr/>
          <p:nvPr/>
        </p:nvSpPr>
        <p:spPr>
          <a:xfrm>
            <a:off x="6204621" y="2318534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6303988" y="4539564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85117" y="17725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077" y="4473669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89" name="Straight Arrow Connector 88"/>
          <p:cNvCxnSpPr>
            <a:stCxn id="80" idx="0"/>
          </p:cNvCxnSpPr>
          <p:nvPr/>
        </p:nvCxnSpPr>
        <p:spPr>
          <a:xfrm flipV="1">
            <a:off x="8212557" y="4421504"/>
            <a:ext cx="105157" cy="800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085273" y="1276851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40267717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380" y="392691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49324" y="2650980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5400" y="2651811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1852427" y="2670314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508175" y="1832454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2016699" y="2990402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2028137" y="3946849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1728829" y="3224652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175951" y="3964709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2520282" y="1607133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2520282" y="1237608"/>
            <a:ext cx="1342921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>
            <a:off x="1834017" y="2279484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1974" y="1880791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74" y="4740532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33384" y="4500514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86506" y="17334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47292" y="5625090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2050" y="1237801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0209" y="3947885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010279" y="3947884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4224540" y="2650980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370616" y="2651811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4238879" y="2974103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866342" y="1607133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3825916" y="4374522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467478" y="5056713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61" name="Straight Arrow Connector 60"/>
          <p:cNvCxnSpPr>
            <a:stCxn id="60" idx="0"/>
          </p:cNvCxnSpPr>
          <p:nvPr/>
        </p:nvCxnSpPr>
        <p:spPr>
          <a:xfrm flipH="1" flipV="1">
            <a:off x="4162678" y="4322696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4927643" y="2670314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4583391" y="1832454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091915" y="2990402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103353" y="3946849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4804045" y="3224652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51167" y="3964709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5595498" y="1607133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Down Arrow 68"/>
          <p:cNvSpPr/>
          <p:nvPr/>
        </p:nvSpPr>
        <p:spPr>
          <a:xfrm>
            <a:off x="4909233" y="2279484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008600" y="4500514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09353" y="1264041"/>
            <a:ext cx="1071281" cy="4146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5913357" y="1322998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53670" y="2584223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11346" y="18180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608" y="2669757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45865" y="5644539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8782" y="3967334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808852" y="3967333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7023113" y="2670429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7169189" y="2671260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/>
          <p:nvPr/>
        </p:nvCxnSpPr>
        <p:spPr>
          <a:xfrm flipV="1">
            <a:off x="7037452" y="2993552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6664915" y="1626582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6624489" y="4393971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266051" y="5076162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98" name="Straight Arrow Connector 97"/>
          <p:cNvCxnSpPr>
            <a:stCxn id="97" idx="0"/>
          </p:cNvCxnSpPr>
          <p:nvPr/>
        </p:nvCxnSpPr>
        <p:spPr>
          <a:xfrm flipH="1" flipV="1">
            <a:off x="6961251" y="4342145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7726216" y="2689763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7381964" y="1851903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40</a:t>
            </a:r>
          </a:p>
        </p:txBody>
      </p:sp>
      <p:cxnSp>
        <p:nvCxnSpPr>
          <p:cNvPr id="104" name="Straight Arrow Connector 103"/>
          <p:cNvCxnSpPr/>
          <p:nvPr/>
        </p:nvCxnSpPr>
        <p:spPr>
          <a:xfrm>
            <a:off x="7890488" y="3009851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7901926" y="3966298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7602618" y="3244101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49740" y="3984158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/>
          <p:cNvCxnSpPr/>
          <p:nvPr/>
        </p:nvCxnSpPr>
        <p:spPr>
          <a:xfrm flipV="1">
            <a:off x="8394071" y="1626582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Down Arrow 110"/>
          <p:cNvSpPr/>
          <p:nvPr/>
        </p:nvSpPr>
        <p:spPr>
          <a:xfrm>
            <a:off x="7707806" y="2298933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7807173" y="4519963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20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07927" y="1283490"/>
            <a:ext cx="489728" cy="403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8421782" y="1330964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181822" y="5812805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</p:spTree>
    <p:extLst>
      <p:ext uri="{BB962C8B-B14F-4D97-AF65-F5344CB8AC3E}">
        <p14:creationId xmlns:p14="http://schemas.microsoft.com/office/powerpoint/2010/main" val="5234894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380" y="392691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64101" y="3272168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1974" y="1880791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74" y="4740532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33112" y="3918979"/>
            <a:ext cx="123141" cy="383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1956254" y="3922020"/>
            <a:ext cx="964950" cy="3807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1819245" y="1595125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1446185" y="4362515"/>
            <a:ext cx="464079" cy="845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993691" y="5093524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Chose</a:t>
            </a:r>
          </a:p>
          <a:p>
            <a:r>
              <a:rPr lang="en-US" dirty="0"/>
              <a:t>VM1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81200" y="3926911"/>
            <a:ext cx="1022488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2106462" y="2583797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57042" y="3926911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2250275" y="4513474"/>
            <a:ext cx="870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 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2965493" y="1569333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47964" y="1234174"/>
            <a:ext cx="1071281" cy="4146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1005128" y="5347183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8263" y="17187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03688" y="1230008"/>
            <a:ext cx="909875" cy="4458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3361995" y="175933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04669" y="1256851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48625" y="1268253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17157" y="3966935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4047227" y="3966934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4261488" y="2670030"/>
            <a:ext cx="143455" cy="3718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4407564" y="2670861"/>
            <a:ext cx="743691" cy="37097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4275827" y="2993153"/>
            <a:ext cx="0" cy="964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3903290" y="1626183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387380" y="5407877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02" name="Straight Arrow Connector 101"/>
          <p:cNvCxnSpPr/>
          <p:nvPr/>
        </p:nvCxnSpPr>
        <p:spPr>
          <a:xfrm flipV="1">
            <a:off x="3862864" y="4393572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504426" y="5075763"/>
            <a:ext cx="1329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Timer</a:t>
            </a:r>
          </a:p>
          <a:p>
            <a:r>
              <a:rPr lang="en-US" dirty="0"/>
              <a:t>Interrupt of </a:t>
            </a:r>
          </a:p>
          <a:p>
            <a:r>
              <a:rPr lang="en-US" dirty="0"/>
              <a:t>Guest OS </a:t>
            </a:r>
          </a:p>
        </p:txBody>
      </p:sp>
      <p:cxnSp>
        <p:nvCxnSpPr>
          <p:cNvPr id="106" name="Straight Arrow Connector 105"/>
          <p:cNvCxnSpPr>
            <a:stCxn id="104" idx="0"/>
          </p:cNvCxnSpPr>
          <p:nvPr/>
        </p:nvCxnSpPr>
        <p:spPr>
          <a:xfrm flipH="1" flipV="1">
            <a:off x="4199626" y="4341746"/>
            <a:ext cx="792017" cy="734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4964591" y="2689364"/>
            <a:ext cx="184475" cy="335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4620339" y="1851504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Spt</a:t>
            </a:r>
            <a:r>
              <a:rPr lang="en-US" dirty="0"/>
              <a:t> 60</a:t>
            </a:r>
          </a:p>
        </p:txBody>
      </p:sp>
      <p:cxnSp>
        <p:nvCxnSpPr>
          <p:cNvPr id="110" name="Straight Arrow Connector 109"/>
          <p:cNvCxnSpPr/>
          <p:nvPr/>
        </p:nvCxnSpPr>
        <p:spPr>
          <a:xfrm>
            <a:off x="5128863" y="3009452"/>
            <a:ext cx="0" cy="96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5140301" y="3965899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4840993" y="3243702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288115" y="3983759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Arrow Connector 114"/>
          <p:cNvCxnSpPr/>
          <p:nvPr/>
        </p:nvCxnSpPr>
        <p:spPr>
          <a:xfrm flipV="1">
            <a:off x="5632446" y="1626183"/>
            <a:ext cx="0" cy="23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5632446" y="1256658"/>
            <a:ext cx="1342921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own Arrow 116"/>
          <p:cNvSpPr/>
          <p:nvPr/>
        </p:nvSpPr>
        <p:spPr>
          <a:xfrm>
            <a:off x="4946181" y="2298534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5045548" y="4519564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60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98670" y="17525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4214" y="1256851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71807" y="3959003"/>
            <a:ext cx="130069" cy="365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Straight Arrow Connector 139"/>
          <p:cNvCxnSpPr/>
          <p:nvPr/>
        </p:nvCxnSpPr>
        <p:spPr>
          <a:xfrm>
            <a:off x="6957940" y="1618251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6442030" y="5399945"/>
            <a:ext cx="1031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handler</a:t>
            </a:r>
          </a:p>
        </p:txBody>
      </p:sp>
      <p:cxnSp>
        <p:nvCxnSpPr>
          <p:cNvPr id="143" name="Straight Arrow Connector 142"/>
          <p:cNvCxnSpPr/>
          <p:nvPr/>
        </p:nvCxnSpPr>
        <p:spPr>
          <a:xfrm flipV="1">
            <a:off x="6917514" y="4385640"/>
            <a:ext cx="131445" cy="102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6975577" y="3957967"/>
            <a:ext cx="123141" cy="383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/>
          <p:cNvSpPr/>
          <p:nvPr/>
        </p:nvSpPr>
        <p:spPr>
          <a:xfrm>
            <a:off x="7098719" y="3961008"/>
            <a:ext cx="964950" cy="3807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7123665" y="3965899"/>
            <a:ext cx="1022488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7899507" y="3965899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7524443" y="4513474"/>
            <a:ext cx="104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____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499435" y="5132511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 </a:t>
            </a:r>
          </a:p>
          <a:p>
            <a:r>
              <a:rPr lang="en-US" dirty="0"/>
              <a:t>Chose</a:t>
            </a:r>
          </a:p>
          <a:p>
            <a:r>
              <a:rPr lang="en-US" dirty="0"/>
              <a:t>VM0</a:t>
            </a:r>
          </a:p>
        </p:txBody>
      </p:sp>
    </p:spTree>
    <p:extLst>
      <p:ext uri="{BB962C8B-B14F-4D97-AF65-F5344CB8AC3E}">
        <p14:creationId xmlns:p14="http://schemas.microsoft.com/office/powerpoint/2010/main" val="5385408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643" y="3972229"/>
            <a:ext cx="924227" cy="3659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496" y="355901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6913" y="2629116"/>
            <a:ext cx="743691" cy="3777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86600" y="67818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1922" y="2643050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 0</a:t>
            </a:r>
          </a:p>
        </p:txBody>
      </p:sp>
      <p:sp>
        <p:nvSpPr>
          <p:cNvPr id="3" name="Rectangle 2"/>
          <p:cNvSpPr/>
          <p:nvPr/>
        </p:nvSpPr>
        <p:spPr>
          <a:xfrm>
            <a:off x="794225" y="3972230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46411" y="4671865"/>
            <a:ext cx="9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SPT 100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040871" y="3006816"/>
            <a:ext cx="0" cy="9604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572004" y="2640898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1318642" y="1862276"/>
            <a:ext cx="807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SPT 40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800604" y="3006816"/>
            <a:ext cx="0" cy="9688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1812042" y="3963263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1416061" y="3226306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24984" y="3957784"/>
            <a:ext cx="263472" cy="3892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1608875" y="4679833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2304187" y="1631478"/>
            <a:ext cx="0" cy="23317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2308763" y="1261953"/>
            <a:ext cx="873500" cy="36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589830" y="85852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57222" y="3994905"/>
            <a:ext cx="158903" cy="38274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3316126" y="3994905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3544727" y="2657681"/>
            <a:ext cx="124188" cy="3634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3674795" y="2657682"/>
            <a:ext cx="743691" cy="3794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3544726" y="3021124"/>
            <a:ext cx="0" cy="9648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3172189" y="1654154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4176500" y="2663574"/>
            <a:ext cx="232699" cy="3501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3889238" y="1879475"/>
            <a:ext cx="807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SPT 40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4397762" y="3037423"/>
            <a:ext cx="0" cy="9688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4409200" y="3993870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4109892" y="3271673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57014" y="4011730"/>
            <a:ext cx="228600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 flipV="1">
            <a:off x="4901345" y="1654154"/>
            <a:ext cx="0" cy="23575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2589830" y="1284822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142" name="TextBox 141"/>
          <p:cNvSpPr txBox="1"/>
          <p:nvPr/>
        </p:nvSpPr>
        <p:spPr>
          <a:xfrm rot="16200000">
            <a:off x="2402203" y="2245695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6" name="Down Arrow 5"/>
          <p:cNvSpPr/>
          <p:nvPr/>
        </p:nvSpPr>
        <p:spPr>
          <a:xfrm>
            <a:off x="1603097" y="2292044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>
            <a:off x="4215080" y="2326505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794225" y="4354973"/>
            <a:ext cx="246646" cy="316892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022790"/>
            <a:ext cx="9144000" cy="1629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57282" y="177457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USER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82" y="5867400"/>
            <a:ext cx="1316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</a:t>
            </a:r>
          </a:p>
          <a:p>
            <a:r>
              <a:rPr lang="en-US" dirty="0"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15080" y="4665010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01345" y="1284629"/>
            <a:ext cx="873500" cy="373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C0C6E7-5759-5344-97CC-DCC2681A4B39}"/>
              </a:ext>
            </a:extLst>
          </p:cNvPr>
          <p:cNvSpPr txBox="1"/>
          <p:nvPr/>
        </p:nvSpPr>
        <p:spPr>
          <a:xfrm>
            <a:off x="5068814" y="8692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BC4DC6-165D-2C4D-98D9-7272E337B3E4}"/>
              </a:ext>
            </a:extLst>
          </p:cNvPr>
          <p:cNvSpPr txBox="1"/>
          <p:nvPr/>
        </p:nvSpPr>
        <p:spPr>
          <a:xfrm>
            <a:off x="5155622" y="1261351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2D96F5F-AE14-704B-ADB7-1FD039F0CBD4}"/>
              </a:ext>
            </a:extLst>
          </p:cNvPr>
          <p:cNvSpPr/>
          <p:nvPr/>
        </p:nvSpPr>
        <p:spPr>
          <a:xfrm>
            <a:off x="5785460" y="3994905"/>
            <a:ext cx="130069" cy="38274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78D5D13-D34F-B840-95D7-CB88FF4D6377}"/>
              </a:ext>
            </a:extLst>
          </p:cNvPr>
          <p:cNvSpPr/>
          <p:nvPr/>
        </p:nvSpPr>
        <p:spPr>
          <a:xfrm>
            <a:off x="5915530" y="3994905"/>
            <a:ext cx="228600" cy="3748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9313493-C87C-A143-9C1D-F2155741BA30}"/>
              </a:ext>
            </a:extLst>
          </p:cNvPr>
          <p:cNvSpPr/>
          <p:nvPr/>
        </p:nvSpPr>
        <p:spPr>
          <a:xfrm>
            <a:off x="6144130" y="2657681"/>
            <a:ext cx="143027" cy="381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4F6B2D3-472E-CE4E-93FF-E6DDF23AE8F4}"/>
              </a:ext>
            </a:extLst>
          </p:cNvPr>
          <p:cNvSpPr/>
          <p:nvPr/>
        </p:nvSpPr>
        <p:spPr>
          <a:xfrm>
            <a:off x="6274199" y="2657682"/>
            <a:ext cx="743691" cy="3631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7A52C83-7AF8-3742-A890-2D2F8055E7AA}"/>
              </a:ext>
            </a:extLst>
          </p:cNvPr>
          <p:cNvCxnSpPr/>
          <p:nvPr/>
        </p:nvCxnSpPr>
        <p:spPr>
          <a:xfrm flipV="1">
            <a:off x="6144130" y="3021124"/>
            <a:ext cx="0" cy="9648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026746C-6D02-4E46-8AFF-2FE9F587E763}"/>
              </a:ext>
            </a:extLst>
          </p:cNvPr>
          <p:cNvCxnSpPr/>
          <p:nvPr/>
        </p:nvCxnSpPr>
        <p:spPr>
          <a:xfrm>
            <a:off x="5771593" y="1654154"/>
            <a:ext cx="13867" cy="2349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72001C7C-D23F-3343-AA3A-415D2730E9A7}"/>
              </a:ext>
            </a:extLst>
          </p:cNvPr>
          <p:cNvSpPr/>
          <p:nvPr/>
        </p:nvSpPr>
        <p:spPr>
          <a:xfrm>
            <a:off x="6775904" y="2663574"/>
            <a:ext cx="241979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C472A3-B62D-704E-B36A-1CD0E3A16888}"/>
              </a:ext>
            </a:extLst>
          </p:cNvPr>
          <p:cNvSpPr txBox="1"/>
          <p:nvPr/>
        </p:nvSpPr>
        <p:spPr>
          <a:xfrm>
            <a:off x="6488642" y="1879475"/>
            <a:ext cx="807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SPT 40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CFB636-17C2-2645-95CF-7DBD38EF327C}"/>
              </a:ext>
            </a:extLst>
          </p:cNvPr>
          <p:cNvCxnSpPr/>
          <p:nvPr/>
        </p:nvCxnSpPr>
        <p:spPr>
          <a:xfrm>
            <a:off x="6997166" y="3037423"/>
            <a:ext cx="0" cy="9688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933F25BB-D8BD-9840-86B9-838CC28290AF}"/>
              </a:ext>
            </a:extLst>
          </p:cNvPr>
          <p:cNvSpPr/>
          <p:nvPr/>
        </p:nvSpPr>
        <p:spPr>
          <a:xfrm>
            <a:off x="7008604" y="3993870"/>
            <a:ext cx="492145" cy="3892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4A9BA6-5FA3-6D44-A19D-8DE4882D2A8C}"/>
              </a:ext>
            </a:extLst>
          </p:cNvPr>
          <p:cNvSpPr txBox="1"/>
          <p:nvPr/>
        </p:nvSpPr>
        <p:spPr>
          <a:xfrm>
            <a:off x="6709296" y="3271673"/>
            <a:ext cx="59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22FB128-E365-9E45-9C31-AEF38562868E}"/>
              </a:ext>
            </a:extLst>
          </p:cNvPr>
          <p:cNvSpPr/>
          <p:nvPr/>
        </p:nvSpPr>
        <p:spPr>
          <a:xfrm>
            <a:off x="7127235" y="4011730"/>
            <a:ext cx="257783" cy="3659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16A9665-24B9-9044-A141-3D0D674107D9}"/>
              </a:ext>
            </a:extLst>
          </p:cNvPr>
          <p:cNvCxnSpPr/>
          <p:nvPr/>
        </p:nvCxnSpPr>
        <p:spPr>
          <a:xfrm flipV="1">
            <a:off x="7500749" y="1654154"/>
            <a:ext cx="0" cy="23575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EB913E1-B405-F745-A04D-29FF5BAE33E2}"/>
              </a:ext>
            </a:extLst>
          </p:cNvPr>
          <p:cNvSpPr txBox="1"/>
          <p:nvPr/>
        </p:nvSpPr>
        <p:spPr>
          <a:xfrm rot="16200000">
            <a:off x="4999290" y="2261654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81" name="Down Arrow 80">
            <a:extLst>
              <a:ext uri="{FF2B5EF4-FFF2-40B4-BE49-F238E27FC236}">
                <a16:creationId xmlns:a16="http://schemas.microsoft.com/office/drawing/2014/main" id="{BB247B00-E785-834F-8DE0-03417DF10A8F}"/>
              </a:ext>
            </a:extLst>
          </p:cNvPr>
          <p:cNvSpPr/>
          <p:nvPr/>
        </p:nvSpPr>
        <p:spPr>
          <a:xfrm>
            <a:off x="6814484" y="2326505"/>
            <a:ext cx="198735" cy="2766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8DC483-FF48-5741-B1A5-622D621B2260}"/>
              </a:ext>
            </a:extLst>
          </p:cNvPr>
          <p:cNvSpPr txBox="1"/>
          <p:nvPr/>
        </p:nvSpPr>
        <p:spPr>
          <a:xfrm>
            <a:off x="6814484" y="4665010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SPT 20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A28DAF1-D049-1D4D-B8AE-E1816C4C38BB}"/>
              </a:ext>
            </a:extLst>
          </p:cNvPr>
          <p:cNvSpPr/>
          <p:nvPr/>
        </p:nvSpPr>
        <p:spPr>
          <a:xfrm>
            <a:off x="7500749" y="1284629"/>
            <a:ext cx="586172" cy="373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3F2CB1-5301-6545-BE64-4637D43F0856}"/>
              </a:ext>
            </a:extLst>
          </p:cNvPr>
          <p:cNvSpPr txBox="1"/>
          <p:nvPr/>
        </p:nvSpPr>
        <p:spPr>
          <a:xfrm>
            <a:off x="7668218" y="8692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D8DC014-2198-724C-BFC5-77E73FAAACA1}"/>
              </a:ext>
            </a:extLst>
          </p:cNvPr>
          <p:cNvSpPr txBox="1"/>
          <p:nvPr/>
        </p:nvSpPr>
        <p:spPr>
          <a:xfrm>
            <a:off x="7668218" y="1261351"/>
            <a:ext cx="5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2DCA821-6077-1347-B42C-6890BEBBF40F}"/>
              </a:ext>
            </a:extLst>
          </p:cNvPr>
          <p:cNvSpPr/>
          <p:nvPr/>
        </p:nvSpPr>
        <p:spPr>
          <a:xfrm>
            <a:off x="8103130" y="4008786"/>
            <a:ext cx="924227" cy="3659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4FA0CA2-223A-BF41-A84D-C989EDB939ED}"/>
              </a:ext>
            </a:extLst>
          </p:cNvPr>
          <p:cNvCxnSpPr>
            <a:cxnSpLocks/>
          </p:cNvCxnSpPr>
          <p:nvPr/>
        </p:nvCxnSpPr>
        <p:spPr>
          <a:xfrm>
            <a:off x="8090062" y="1630683"/>
            <a:ext cx="4794" cy="23781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0F7272C-50AA-1542-9BDC-FBFF49A48437}"/>
              </a:ext>
            </a:extLst>
          </p:cNvPr>
          <p:cNvSpPr/>
          <p:nvPr/>
        </p:nvSpPr>
        <p:spPr>
          <a:xfrm>
            <a:off x="8121320" y="4000373"/>
            <a:ext cx="130069" cy="38274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741E0FA-3B98-834D-8F31-9050B6524ABF}"/>
              </a:ext>
            </a:extLst>
          </p:cNvPr>
          <p:cNvSpPr txBox="1"/>
          <p:nvPr/>
        </p:nvSpPr>
        <p:spPr>
          <a:xfrm>
            <a:off x="8260650" y="358845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VMM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57E6981-203A-9D46-9FCF-898B5B046F3C}"/>
              </a:ext>
            </a:extLst>
          </p:cNvPr>
          <p:cNvSpPr txBox="1"/>
          <p:nvPr/>
        </p:nvSpPr>
        <p:spPr>
          <a:xfrm>
            <a:off x="313441" y="5190248"/>
            <a:ext cx="46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514A608-310A-CA47-B3D8-1E2536DE8FE2}"/>
              </a:ext>
            </a:extLst>
          </p:cNvPr>
          <p:cNvSpPr txBox="1"/>
          <p:nvPr/>
        </p:nvSpPr>
        <p:spPr>
          <a:xfrm>
            <a:off x="1783249" y="5205132"/>
            <a:ext cx="46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(B)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ED29D15-E5F8-3147-8EA3-7651374B313D}"/>
              </a:ext>
            </a:extLst>
          </p:cNvPr>
          <p:cNvSpPr txBox="1"/>
          <p:nvPr/>
        </p:nvSpPr>
        <p:spPr>
          <a:xfrm>
            <a:off x="3112194" y="5217996"/>
            <a:ext cx="46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(C)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D521EEC-6FCF-7342-923F-591380FADBC2}"/>
              </a:ext>
            </a:extLst>
          </p:cNvPr>
          <p:cNvSpPr txBox="1"/>
          <p:nvPr/>
        </p:nvSpPr>
        <p:spPr>
          <a:xfrm>
            <a:off x="4441139" y="5250544"/>
            <a:ext cx="56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(D)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B2B5C47-8C9F-5F4B-A6AC-756B06FC2B65}"/>
              </a:ext>
            </a:extLst>
          </p:cNvPr>
          <p:cNvSpPr txBox="1"/>
          <p:nvPr/>
        </p:nvSpPr>
        <p:spPr>
          <a:xfrm>
            <a:off x="5749342" y="5221597"/>
            <a:ext cx="56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(E)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0215E49-3705-6442-907C-708532A65B60}"/>
              </a:ext>
            </a:extLst>
          </p:cNvPr>
          <p:cNvSpPr txBox="1"/>
          <p:nvPr/>
        </p:nvSpPr>
        <p:spPr>
          <a:xfrm>
            <a:off x="7104530" y="5217996"/>
            <a:ext cx="56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EBE7296-B224-704F-8A6D-CFFB264C8D1B}"/>
              </a:ext>
            </a:extLst>
          </p:cNvPr>
          <p:cNvSpPr txBox="1"/>
          <p:nvPr/>
        </p:nvSpPr>
        <p:spPr>
          <a:xfrm>
            <a:off x="8410126" y="5222726"/>
            <a:ext cx="56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(G)</a:t>
            </a:r>
          </a:p>
        </p:txBody>
      </p:sp>
    </p:spTree>
    <p:extLst>
      <p:ext uri="{BB962C8B-B14F-4D97-AF65-F5344CB8AC3E}">
        <p14:creationId xmlns:p14="http://schemas.microsoft.com/office/powerpoint/2010/main" val="19018268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Theorem 2: Recursive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Dreaming Outloud Pro" panose="03050502040302030504" pitchFamily="66" charset="77"/>
                <a:ea typeface="MS UI Gothic" panose="020B0600070205080204" pitchFamily="34" charset="-128"/>
                <a:cs typeface="Dreaming Outloud Pro" panose="03050502040302030504" pitchFamily="66" charset="77"/>
              </a:rPr>
              <a:t>Theorem 2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สำหรับ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conventional third-generation computer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จะมีคุณสมบัติ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recursively virtualization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ถ้า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(1)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คอมพิวเตอร์นั้นสามารถปฏิบัติการแบบ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virtualization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ได้และ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(2)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สามารถรัน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2</a:t>
            </a:r>
            <a:r>
              <a:rPr lang="en-US" b="1" baseline="30000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nd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-level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ที่ไม่มีความต้องการเรื่องเวลา (เช่น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real-time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applications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) 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ที่รันบน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ได้ 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267200"/>
            <a:ext cx="5562600" cy="226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541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Recursive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ขนาดของทรัพยากรที่มีให้ใช้บน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Host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จะลดลงเมื่อระดับชั้นของการทำ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virtualization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เพิ่มขึ้น 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ใช้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Verify correctness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 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ข้อเสีย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VM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ที่รันบน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en-US" b="1" baseline="30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nd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-level VMM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Performance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ลดลง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97643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Handling of</a:t>
            </a:r>
            <a:r>
              <a:rPr lang="th-TH" u="sng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en-US" b="1" u="sng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critical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ไม่ไช่ทุกคำสั่งจะเป็นไปตามทฤษฎีที่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1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Efficient VMM</a:t>
            </a:r>
            <a:endParaRPr lang="th-TH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นิยาม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Critical Instructions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คำสั่งที่เมื่อรันบน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user mode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จะไม่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ดังนั้น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จึงใช้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handler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emulate </a:t>
            </a:r>
            <a:r>
              <a:rPr lang="th-TH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คำสั่งให้ไม่ได้</a:t>
            </a:r>
            <a:r>
              <a:rPr lang="en-US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วิธีการแก้ปัญหา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(1) Interpretation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คือ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อ่านคำสั่งทุกคำสั่งก่อนส่งให้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 ถ้าเจอคำสั่ง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critical 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ก็รันคำสั่งนั้นให้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ประสิทธิภาพต่ำเพราะต้องเช็คทุกคำสั่ง</a:t>
            </a:r>
            <a:endParaRPr lang="en-US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34715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/>
          </a:bodyPr>
          <a:lstStyle/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วิธีการแก้ปัญหา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(2)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Patching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</a:t>
            </a: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ใช้วิธีการแปลง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OS 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image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แบบ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offline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ก่อนรัน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</a:p>
          <a:p>
            <a:pPr lvl="1"/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Scan 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Guest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เพื่อหา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Critical section 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เมื่อพบแล้วให้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Patch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พร้อมทั้งข้อมูลที่จำเป็นสำหรับ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แทนที่คำสั่ง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Critical Instruction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ที่เจอ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ใช้วิธีการ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Caching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เพื่อเพิ่มประสิทธิภาพ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3C6655-19B3-1FC3-582F-17A77777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Handling of</a:t>
            </a:r>
            <a:r>
              <a:rPr lang="th-TH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critical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6924039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Guest OS</a:t>
            </a:r>
            <a:r>
              <a:rPr lang="th-TH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5" y="1620253"/>
            <a:ext cx="8187886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914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"/>
            <a:ext cx="8229600" cy="7378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 caching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86D66-9266-2BF4-0880-3345009E84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535"/>
          <a:stretch/>
        </p:blipFill>
        <p:spPr>
          <a:xfrm>
            <a:off x="457200" y="819150"/>
            <a:ext cx="3962400" cy="47764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51E9C3-E033-7397-0370-AEEC7CEB5B1A}"/>
              </a:ext>
            </a:extLst>
          </p:cNvPr>
          <p:cNvSpPr/>
          <p:nvPr/>
        </p:nvSpPr>
        <p:spPr>
          <a:xfrm>
            <a:off x="685800" y="1524000"/>
            <a:ext cx="1295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CEDCC-8E65-010B-A265-EFA2C2DA122E}"/>
              </a:ext>
            </a:extLst>
          </p:cNvPr>
          <p:cNvSpPr txBox="1"/>
          <p:nvPr/>
        </p:nvSpPr>
        <p:spPr>
          <a:xfrm>
            <a:off x="512200" y="664633"/>
            <a:ext cx="2821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Guest OS program on Disk.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9DB09-B39D-2185-E2FB-4FF70B987B25}"/>
              </a:ext>
            </a:extLst>
          </p:cNvPr>
          <p:cNvSpPr txBox="1"/>
          <p:nvPr/>
        </p:nvSpPr>
        <p:spPr>
          <a:xfrm>
            <a:off x="457200" y="5824035"/>
            <a:ext cx="5481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Block 3 </a:t>
            </a:r>
            <a:r>
              <a:rPr lang="th-TH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แสดง ตัวอย่างที่ </a:t>
            </a:r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1</a:t>
            </a:r>
            <a:r>
              <a:rPr lang="th-TH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block </a:t>
            </a:r>
            <a:r>
              <a:rPr lang="th-TH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ครอบคลุม </a:t>
            </a:r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 </a:t>
            </a:r>
            <a:r>
              <a:rPr lang="th-TH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ที่มีการ </a:t>
            </a:r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trap 2 </a:t>
            </a:r>
            <a:r>
              <a:rPr lang="th-TH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ครั้ง 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127BF471-E7D7-20EF-990E-FE75D4854479}"/>
              </a:ext>
            </a:extLst>
          </p:cNvPr>
          <p:cNvCxnSpPr>
            <a:stCxn id="7" idx="1"/>
          </p:cNvCxnSpPr>
          <p:nvPr/>
        </p:nvCxnSpPr>
        <p:spPr>
          <a:xfrm rot="10800000" flipH="1">
            <a:off x="457200" y="4267201"/>
            <a:ext cx="533400" cy="1741501"/>
          </a:xfrm>
          <a:prstGeom prst="curvedConnector4">
            <a:avLst>
              <a:gd name="adj1" fmla="val -42857"/>
              <a:gd name="adj2" fmla="val 99932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6516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"/>
            <a:ext cx="8229600" cy="7378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84520"/>
            <a:ext cx="8229600" cy="11430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ตัด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ส่วนที่มีการ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patching traps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แทน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critical section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ออกทั้ง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block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ซึ่งอาจ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cover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หลายคำสั่ง มาไว้ใน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table[ </a:t>
            </a:r>
            <a:r>
              <a:rPr lang="en-US" b="1" i="1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Z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] </a:t>
            </a:r>
          </a:p>
          <a:p>
            <a:pPr marL="514350" indent="-514350">
              <a:buFont typeface="+mj-lt"/>
              <a:buAutoNum type="arabicPeriod"/>
            </a:pP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แทนที่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code block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นั้นด้วย 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hash tag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(หรือ 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index </a:t>
            </a:r>
            <a:r>
              <a:rPr lang="en-US" b="1" i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Z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table[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]</a:t>
            </a:r>
          </a:p>
          <a:p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86D66-9266-2BF4-0880-3345009E84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535"/>
          <a:stretch/>
        </p:blipFill>
        <p:spPr>
          <a:xfrm>
            <a:off x="457200" y="819150"/>
            <a:ext cx="3962400" cy="47764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51E9C3-E033-7397-0370-AEEC7CEB5B1A}"/>
              </a:ext>
            </a:extLst>
          </p:cNvPr>
          <p:cNvSpPr/>
          <p:nvPr/>
        </p:nvSpPr>
        <p:spPr>
          <a:xfrm>
            <a:off x="685800" y="1524000"/>
            <a:ext cx="1295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BAFFC-6F90-C1FB-FA76-0D11F88DAF73}"/>
              </a:ext>
            </a:extLst>
          </p:cNvPr>
          <p:cNvSpPr/>
          <p:nvPr/>
        </p:nvSpPr>
        <p:spPr>
          <a:xfrm>
            <a:off x="1981200" y="1752600"/>
            <a:ext cx="3048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2BDF2A-FC97-E605-AD67-3682E1619E99}"/>
              </a:ext>
            </a:extLst>
          </p:cNvPr>
          <p:cNvSpPr/>
          <p:nvPr/>
        </p:nvSpPr>
        <p:spPr>
          <a:xfrm>
            <a:off x="914400" y="4114800"/>
            <a:ext cx="609600" cy="44983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AC6FF8-2C90-48FF-9FB9-E11C3DA55E9E}"/>
              </a:ext>
            </a:extLst>
          </p:cNvPr>
          <p:cNvSpPr/>
          <p:nvPr/>
        </p:nvSpPr>
        <p:spPr>
          <a:xfrm>
            <a:off x="3352800" y="3705150"/>
            <a:ext cx="318204" cy="24832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6090BDB-2383-21E4-3154-014FDF11E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784494"/>
              </p:ext>
            </p:extLst>
          </p:nvPr>
        </p:nvGraphicFramePr>
        <p:xfrm>
          <a:off x="4876800" y="2110077"/>
          <a:ext cx="24384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8791967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44426647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>
                        <a:latin typeface="Dreaming Outloud Pro" panose="03050502040302030504" pitchFamily="66" charset="77"/>
                        <a:cs typeface="Dreaming Outloud Pro" panose="03050502040302030504" pitchFamily="66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56102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8639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6819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633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77404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</a:t>
                      </a:r>
                      <a:r>
                        <a:rPr lang="en-TH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lock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3022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02CEDCC-8E65-010B-A265-EFA2C2DA122E}"/>
              </a:ext>
            </a:extLst>
          </p:cNvPr>
          <p:cNvSpPr txBox="1"/>
          <p:nvPr/>
        </p:nvSpPr>
        <p:spPr>
          <a:xfrm>
            <a:off x="512200" y="664633"/>
            <a:ext cx="2267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Everything is on Disk.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262940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DDAD4-A442-3CA4-EF17-FC3D6C752616}"/>
              </a:ext>
            </a:extLst>
          </p:cNvPr>
          <p:cNvSpPr/>
          <p:nvPr/>
        </p:nvSpPr>
        <p:spPr>
          <a:xfrm>
            <a:off x="4419600" y="4800600"/>
            <a:ext cx="4495800" cy="1905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"/>
            <a:ext cx="8229600" cy="7378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 caching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86D66-9266-2BF4-0880-3345009E84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535"/>
          <a:stretch/>
        </p:blipFill>
        <p:spPr>
          <a:xfrm>
            <a:off x="457200" y="819150"/>
            <a:ext cx="3962400" cy="47764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51E9C3-E033-7397-0370-AEEC7CEB5B1A}"/>
              </a:ext>
            </a:extLst>
          </p:cNvPr>
          <p:cNvSpPr/>
          <p:nvPr/>
        </p:nvSpPr>
        <p:spPr>
          <a:xfrm>
            <a:off x="685800" y="1524000"/>
            <a:ext cx="1295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BAFFC-6F90-C1FB-FA76-0D11F88DAF73}"/>
              </a:ext>
            </a:extLst>
          </p:cNvPr>
          <p:cNvSpPr/>
          <p:nvPr/>
        </p:nvSpPr>
        <p:spPr>
          <a:xfrm>
            <a:off x="1981200" y="1752600"/>
            <a:ext cx="3048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2BDF2A-FC97-E605-AD67-3682E1619E99}"/>
              </a:ext>
            </a:extLst>
          </p:cNvPr>
          <p:cNvSpPr/>
          <p:nvPr/>
        </p:nvSpPr>
        <p:spPr>
          <a:xfrm>
            <a:off x="914400" y="4114800"/>
            <a:ext cx="609600" cy="44983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AC6FF8-2C90-48FF-9FB9-E11C3DA55E9E}"/>
              </a:ext>
            </a:extLst>
          </p:cNvPr>
          <p:cNvSpPr/>
          <p:nvPr/>
        </p:nvSpPr>
        <p:spPr>
          <a:xfrm>
            <a:off x="3352800" y="3705150"/>
            <a:ext cx="318204" cy="24832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6090BDB-2383-21E4-3154-014FDF11E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519246"/>
              </p:ext>
            </p:extLst>
          </p:nvPr>
        </p:nvGraphicFramePr>
        <p:xfrm>
          <a:off x="5326379" y="4873115"/>
          <a:ext cx="2575561" cy="18324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4863">
                  <a:extLst>
                    <a:ext uri="{9D8B030D-6E8A-4147-A177-3AD203B41FA5}">
                      <a16:colId xmlns:a16="http://schemas.microsoft.com/office/drawing/2014/main" val="879196700"/>
                    </a:ext>
                  </a:extLst>
                </a:gridCol>
                <a:gridCol w="1770698">
                  <a:extLst>
                    <a:ext uri="{9D8B030D-6E8A-4147-A177-3AD203B41FA5}">
                      <a16:colId xmlns:a16="http://schemas.microsoft.com/office/drawing/2014/main" val="1444266472"/>
                    </a:ext>
                  </a:extLst>
                </a:gridCol>
              </a:tblGrid>
              <a:tr h="308485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sz="1400">
                        <a:latin typeface="Dreaming Outloud Pro" panose="03050502040302030504" pitchFamily="66" charset="77"/>
                        <a:cs typeface="Dreaming Outloud Pro" panose="03050502040302030504" pitchFamily="66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561021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86390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68191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63352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774044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</a:t>
                      </a:r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lock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3022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185166-605A-E624-E269-A922368F4B5A}"/>
              </a:ext>
            </a:extLst>
          </p:cNvPr>
          <p:cNvSpPr/>
          <p:nvPr/>
        </p:nvSpPr>
        <p:spPr>
          <a:xfrm>
            <a:off x="2651760" y="4990455"/>
            <a:ext cx="1295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6ABA0-D0A0-3654-E65C-AF509DA0709E}"/>
              </a:ext>
            </a:extLst>
          </p:cNvPr>
          <p:cNvSpPr txBox="1"/>
          <p:nvPr/>
        </p:nvSpPr>
        <p:spPr>
          <a:xfrm>
            <a:off x="512200" y="664633"/>
            <a:ext cx="391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Patched program is loaded to memory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AC512-A43A-1CDD-8352-382CC3670212}"/>
              </a:ext>
            </a:extLst>
          </p:cNvPr>
          <p:cNvSpPr txBox="1"/>
          <p:nvPr/>
        </p:nvSpPr>
        <p:spPr>
          <a:xfrm>
            <a:off x="5615230" y="4350264"/>
            <a:ext cx="226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Table[ z ]  is on Disk.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67734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E0F81-EA84-821E-EDC7-E82762989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9150"/>
            <a:ext cx="6553200" cy="47764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2FDDAD4-A442-3CA4-EF17-FC3D6C752616}"/>
              </a:ext>
            </a:extLst>
          </p:cNvPr>
          <p:cNvSpPr/>
          <p:nvPr/>
        </p:nvSpPr>
        <p:spPr>
          <a:xfrm>
            <a:off x="4419600" y="4800600"/>
            <a:ext cx="4495800" cy="1905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"/>
            <a:ext cx="8229600" cy="7378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 caching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51E9C3-E033-7397-0370-AEEC7CEB5B1A}"/>
              </a:ext>
            </a:extLst>
          </p:cNvPr>
          <p:cNvSpPr/>
          <p:nvPr/>
        </p:nvSpPr>
        <p:spPr>
          <a:xfrm>
            <a:off x="685800" y="1524000"/>
            <a:ext cx="1295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BAFFC-6F90-C1FB-FA76-0D11F88DAF73}"/>
              </a:ext>
            </a:extLst>
          </p:cNvPr>
          <p:cNvSpPr/>
          <p:nvPr/>
        </p:nvSpPr>
        <p:spPr>
          <a:xfrm>
            <a:off x="1981200" y="1752600"/>
            <a:ext cx="3048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2BDF2A-FC97-E605-AD67-3682E1619E99}"/>
              </a:ext>
            </a:extLst>
          </p:cNvPr>
          <p:cNvSpPr/>
          <p:nvPr/>
        </p:nvSpPr>
        <p:spPr>
          <a:xfrm>
            <a:off x="914400" y="4114800"/>
            <a:ext cx="609600" cy="44983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AC6FF8-2C90-48FF-9FB9-E11C3DA55E9E}"/>
              </a:ext>
            </a:extLst>
          </p:cNvPr>
          <p:cNvSpPr/>
          <p:nvPr/>
        </p:nvSpPr>
        <p:spPr>
          <a:xfrm>
            <a:off x="3352800" y="3705150"/>
            <a:ext cx="318204" cy="24832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6090BDB-2383-21E4-3154-014FDF11EA54}"/>
              </a:ext>
            </a:extLst>
          </p:cNvPr>
          <p:cNvGraphicFramePr>
            <a:graphicFrameLocks noGrp="1"/>
          </p:cNvGraphicFramePr>
          <p:nvPr/>
        </p:nvGraphicFramePr>
        <p:xfrm>
          <a:off x="5326379" y="4873115"/>
          <a:ext cx="2575561" cy="18324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4863">
                  <a:extLst>
                    <a:ext uri="{9D8B030D-6E8A-4147-A177-3AD203B41FA5}">
                      <a16:colId xmlns:a16="http://schemas.microsoft.com/office/drawing/2014/main" val="879196700"/>
                    </a:ext>
                  </a:extLst>
                </a:gridCol>
                <a:gridCol w="1770698">
                  <a:extLst>
                    <a:ext uri="{9D8B030D-6E8A-4147-A177-3AD203B41FA5}">
                      <a16:colId xmlns:a16="http://schemas.microsoft.com/office/drawing/2014/main" val="1444266472"/>
                    </a:ext>
                  </a:extLst>
                </a:gridCol>
              </a:tblGrid>
              <a:tr h="308485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sz="1400">
                        <a:latin typeface="Dreaming Outloud Pro" panose="03050502040302030504" pitchFamily="66" charset="77"/>
                        <a:cs typeface="Dreaming Outloud Pro" panose="03050502040302030504" pitchFamily="66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561021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86390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68191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block3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63352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774044"/>
                  </a:ext>
                </a:extLst>
              </a:tr>
              <a:tr h="260190">
                <a:tc>
                  <a:txBody>
                    <a:bodyPr/>
                    <a:lstStyle/>
                    <a:p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b</a:t>
                      </a:r>
                      <a:r>
                        <a:rPr lang="en-TH" sz="1400" dirty="0">
                          <a:latin typeface="Dreaming Outloud Pro" panose="03050502040302030504" pitchFamily="66" charset="77"/>
                          <a:cs typeface="Dreaming Outloud Pro" panose="03050502040302030504" pitchFamily="66" charset="77"/>
                        </a:rPr>
                        <a:t>lock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3022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185166-605A-E624-E269-A922368F4B5A}"/>
              </a:ext>
            </a:extLst>
          </p:cNvPr>
          <p:cNvSpPr/>
          <p:nvPr/>
        </p:nvSpPr>
        <p:spPr>
          <a:xfrm>
            <a:off x="2651760" y="4990455"/>
            <a:ext cx="1295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6ABA0-D0A0-3654-E65C-AF509DA0709E}"/>
              </a:ext>
            </a:extLst>
          </p:cNvPr>
          <p:cNvSpPr txBox="1"/>
          <p:nvPr/>
        </p:nvSpPr>
        <p:spPr>
          <a:xfrm>
            <a:off x="512200" y="664633"/>
            <a:ext cx="391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Patched program is loaded to memory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AC512-A43A-1CDD-8352-382CC3670212}"/>
              </a:ext>
            </a:extLst>
          </p:cNvPr>
          <p:cNvSpPr txBox="1"/>
          <p:nvPr/>
        </p:nvSpPr>
        <p:spPr>
          <a:xfrm>
            <a:off x="183354" y="1668118"/>
            <a:ext cx="181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1 .CPU execute </a:t>
            </a:r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  <a:sym typeface="Wingdings" pitchFamily="2" charset="2"/>
              </a:rPr>
              <a:t>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12D27AD7-6BC2-6E86-3FDE-6BEE80123BE3}"/>
              </a:ext>
            </a:extLst>
          </p:cNvPr>
          <p:cNvCxnSpPr/>
          <p:nvPr/>
        </p:nvCxnSpPr>
        <p:spPr>
          <a:xfrm rot="16200000" flipV="1">
            <a:off x="5662760" y="3680915"/>
            <a:ext cx="2771481" cy="533400"/>
          </a:xfrm>
          <a:prstGeom prst="curvedConnector3">
            <a:avLst>
              <a:gd name="adj1" fmla="val 9949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93F688-6EF7-81B0-3F09-8C3DDBEFDA5F}"/>
              </a:ext>
            </a:extLst>
          </p:cNvPr>
          <p:cNvSpPr txBox="1"/>
          <p:nvPr/>
        </p:nvSpPr>
        <p:spPr>
          <a:xfrm>
            <a:off x="7284246" y="2647557"/>
            <a:ext cx="18838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2. Trap occurs.</a:t>
            </a:r>
          </a:p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VMM loads </a:t>
            </a:r>
          </a:p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Block 1 to </a:t>
            </a:r>
            <a:r>
              <a:rPr lang="en-US" b="1" u="sng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</a:t>
            </a:r>
          </a:p>
          <a:p>
            <a:r>
              <a:rPr lang="en-US" b="1" u="sng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Cache</a:t>
            </a:r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in Memory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1E68D9-55CC-9C26-336E-4AD34342444B}"/>
              </a:ext>
            </a:extLst>
          </p:cNvPr>
          <p:cNvSpPr txBox="1"/>
          <p:nvPr/>
        </p:nvSpPr>
        <p:spPr>
          <a:xfrm>
            <a:off x="939369" y="5701327"/>
            <a:ext cx="3491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3. If CPU run block 1 again, </a:t>
            </a:r>
          </a:p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Trap handler will execute </a:t>
            </a:r>
          </a:p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Block 1 in code cache right away. 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79698C-74E3-CC4D-CDBB-6FB43E8C5734}"/>
              </a:ext>
            </a:extLst>
          </p:cNvPr>
          <p:cNvSpPr txBox="1"/>
          <p:nvPr/>
        </p:nvSpPr>
        <p:spPr>
          <a:xfrm>
            <a:off x="7940505" y="6055459"/>
            <a:ext cx="1256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Table[ z ]  is on Disk.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DF780C-860B-3E6C-3D18-B070386CC82E}"/>
              </a:ext>
            </a:extLst>
          </p:cNvPr>
          <p:cNvSpPr txBox="1"/>
          <p:nvPr/>
        </p:nvSpPr>
        <p:spPr>
          <a:xfrm>
            <a:off x="5105400" y="1295752"/>
            <a:ext cx="270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 cache  is in memory</a:t>
            </a:r>
            <a:endParaRPr lang="en-TH" dirty="0">
              <a:solidFill>
                <a:srgbClr val="C00000"/>
              </a:solidFill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133285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Code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ตัด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ส่วนที่มีการ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patching traps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แทน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critical section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ออกทั้ง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block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ซึ่งอาจ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cover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คำสั่ง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หลายคำสั่ง มาไว้ใน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table[ </a:t>
            </a:r>
            <a:r>
              <a:rPr lang="en-US" b="1" i="1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Z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] </a:t>
            </a:r>
          </a:p>
          <a:p>
            <a:pPr marL="514350" indent="-514350">
              <a:buFont typeface="+mj-lt"/>
              <a:buAutoNum type="arabicPeriod"/>
            </a:pP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แทนที่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code block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นั้นด้วย 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hash tag</a:t>
            </a:r>
            <a:r>
              <a:rPr lang="th-TH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(หรือ 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index </a:t>
            </a:r>
            <a:r>
              <a:rPr lang="en-US" b="1" i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Z</a:t>
            </a:r>
            <a:r>
              <a:rPr lang="en-US" b="1" u="sng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table[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]</a:t>
            </a:r>
          </a:p>
          <a:p>
            <a:pPr marL="514350" indent="-514350">
              <a:buFont typeface="+mj-lt"/>
              <a:buAutoNum type="arabicPeriod"/>
            </a:pP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เมื่อ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รันไปเจอคำสั่ง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block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ก็จะเรียก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handler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เข้ามารันและ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handler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จะพิจารณาว่า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hash tag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ที่เจอ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เป็นของ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block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ใดใน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table[</a:t>
            </a:r>
            <a:r>
              <a:rPr lang="en-US" b="1" dirty="0" err="1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i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] </a:t>
            </a:r>
            <a:endParaRPr lang="th-TH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VMM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จะเช็คจาก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 code cache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ว่า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block </a:t>
            </a:r>
            <a:r>
              <a:rPr lang="en-US" b="1" i="1" dirty="0">
                <a:solidFill>
                  <a:srgbClr val="FF0000"/>
                </a:solidFill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Z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นี้เคยถูก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load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และมีอยู่ใน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 cache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หรือไม่ ถ้ามีก็ให้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fetch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block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cache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ถ้าไม่มีก็จะ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load 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นั้นจาก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Disk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ไปไว้ใน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memory cache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และให้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รัน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นั้น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ช่วยเพิ่มประสิทธิภาพ เพราะ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 (1) code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ที่มีการใช้งานบ่อยจะอยู่ใน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code cache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และ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(2)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ตอน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CPU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พบ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ของ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block 3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จะ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trap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ครั้งเดียว (แทนที่จะเป็น </a:t>
            </a:r>
            <a:r>
              <a:rPr lang="en-US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2 </a:t>
            </a:r>
            <a:r>
              <a:rPr lang="th-TH" b="1" dirty="0">
                <a:latin typeface="TH SarabunPSK" panose="020B0500040200020003" pitchFamily="34" charset="-34"/>
                <a:ea typeface="MS UI Gothic" panose="020B0600070205080204" pitchFamily="34" charset="-128"/>
                <a:cs typeface="TH SarabunPSK" panose="020B0500040200020003" pitchFamily="34" charset="-34"/>
              </a:rPr>
              <a:t>ครั้ง)</a:t>
            </a:r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  <a:p>
            <a:endParaRPr lang="en-US" b="1" dirty="0">
              <a:latin typeface="TH SarabunPSK" panose="020B0500040200020003" pitchFamily="34" charset="-34"/>
              <a:ea typeface="MS UI Gothic" panose="020B0600070205080204" pitchFamily="34" charset="-128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356920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94794"/>
            <a:ext cx="6428509" cy="4513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304799" y="1150567"/>
            <a:ext cx="276057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Apps </a:t>
            </a:r>
            <a:r>
              <a:rPr lang="th-TH" b="1" dirty="0">
                <a:latin typeface="Dreaming Outloud Pro" panose="03050502040302030504" pitchFamily="66" charset="77"/>
              </a:rPr>
              <a:t>พยายามรันคำสั่งของ </a:t>
            </a:r>
          </a:p>
          <a:p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OS VMM </a:t>
            </a:r>
            <a:r>
              <a:rPr lang="th-TH" b="1" dirty="0">
                <a:latin typeface="Dreaming Outloud Pro" panose="03050502040302030504" pitchFamily="66" charset="77"/>
              </a:rPr>
              <a:t>จะต้องแจ้ง </a:t>
            </a:r>
          </a:p>
          <a:p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Guest OS </a:t>
            </a:r>
            <a:r>
              <a:rPr lang="th-TH" b="1" dirty="0">
                <a:latin typeface="Dreaming Outloud Pro" panose="03050502040302030504" pitchFamily="66" charset="77"/>
              </a:rPr>
              <a:t>ให้ทราบ โดย</a:t>
            </a:r>
            <a:endParaRPr lang="en-US" b="1" dirty="0">
              <a:latin typeface="Dreaming Outloud Pro" panose="03050502040302030504" pitchFamily="66" charset="77"/>
              <a:cs typeface="Dreaming Outloud Pro" panose="03050502040302030504" pitchFamily="66" charset="77"/>
            </a:endParaRPr>
          </a:p>
          <a:p>
            <a:r>
              <a:rPr lang="th-TH" b="1" dirty="0">
                <a:latin typeface="Dreaming Outloud Pro" panose="03050502040302030504" pitchFamily="66" charset="77"/>
              </a:rPr>
              <a:t>ส่ง 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virtual trap </a:t>
            </a:r>
            <a:r>
              <a:rPr lang="th-TH" b="1" dirty="0">
                <a:latin typeface="Dreaming Outloud Pro" panose="03050502040302030504" pitchFamily="66" charset="77"/>
              </a:rPr>
              <a:t>ให้ 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guest OS</a:t>
            </a:r>
            <a:r>
              <a:rPr lang="th-TH" b="1" dirty="0">
                <a:latin typeface="Dreaming Outloud Pro" panose="03050502040302030504" pitchFamily="66" charset="77"/>
              </a:rPr>
              <a:t> </a:t>
            </a:r>
          </a:p>
        </p:txBody>
      </p:sp>
      <p:sp>
        <p:nvSpPr>
          <p:cNvPr id="6" name="Freeform 5"/>
          <p:cNvSpPr/>
          <p:nvPr/>
        </p:nvSpPr>
        <p:spPr>
          <a:xfrm>
            <a:off x="2802024" y="1285075"/>
            <a:ext cx="1084176" cy="433020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H="1">
            <a:off x="3429000" y="150538"/>
            <a:ext cx="276057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IBM</a:t>
            </a:r>
            <a:r>
              <a:rPr lang="th-TH" b="1" dirty="0">
                <a:latin typeface="Dreaming Outloud Pro" panose="03050502040302030504" pitchFamily="66" charset="77"/>
              </a:rPr>
              <a:t> ออกแบบ 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 </a:t>
            </a:r>
            <a:r>
              <a:rPr lang="th-TH" b="1" dirty="0">
                <a:latin typeface="Dreaming Outloud Pro" panose="03050502040302030504" pitchFamily="66" charset="77"/>
              </a:rPr>
              <a:t>และ 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CMS</a:t>
            </a:r>
            <a:r>
              <a:rPr lang="th-TH" b="1" dirty="0">
                <a:latin typeface="Dreaming Outloud Pro" panose="03050502040302030504" pitchFamily="66" charset="77"/>
              </a:rPr>
              <a:t> </a:t>
            </a:r>
          </a:p>
          <a:p>
            <a:r>
              <a:rPr lang="th-TH" b="1" dirty="0">
                <a:latin typeface="Dreaming Outloud Pro" panose="03050502040302030504" pitchFamily="66" charset="77"/>
              </a:rPr>
              <a:t>ให้ 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CP </a:t>
            </a:r>
            <a:r>
              <a:rPr lang="th-TH" b="1" dirty="0">
                <a:latin typeface="Dreaming Outloud Pro" panose="03050502040302030504" pitchFamily="66" charset="77"/>
              </a:rPr>
              <a:t>สามารถจัดการกรณีที่</a:t>
            </a:r>
          </a:p>
          <a:p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Apps</a:t>
            </a:r>
            <a:r>
              <a:rPr lang="th-TH" b="1" dirty="0">
                <a:latin typeface="Dreaming Outloud Pro" panose="03050502040302030504" pitchFamily="66" charset="77"/>
              </a:rPr>
              <a:t> รัน 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privilege </a:t>
            </a:r>
            <a:r>
              <a:rPr lang="en-US" b="1" dirty="0" err="1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inst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th-TH" b="1" dirty="0">
                <a:latin typeface="Dreaming Outloud Pro" panose="03050502040302030504" pitchFamily="66" charset="77"/>
              </a:rPr>
              <a:t>ให้</a:t>
            </a:r>
            <a:r>
              <a:rPr lang="en-US" b="1" dirty="0">
                <a:latin typeface="Dreaming Outloud Pro" panose="03050502040302030504" pitchFamily="66" charset="77"/>
                <a:cs typeface="Dreaming Outloud Pro" panose="03050502040302030504" pitchFamily="66" charset="77"/>
              </a:rPr>
              <a:t> </a:t>
            </a:r>
            <a:r>
              <a:rPr lang="th-TH" b="1" dirty="0">
                <a:latin typeface="Dreaming Outloud Pro" panose="03050502040302030504" pitchFamily="66" charset="77"/>
              </a:rPr>
              <a:t> </a:t>
            </a:r>
          </a:p>
        </p:txBody>
      </p:sp>
      <p:sp>
        <p:nvSpPr>
          <p:cNvPr id="8" name="Freeform 7"/>
          <p:cNvSpPr/>
          <p:nvPr/>
        </p:nvSpPr>
        <p:spPr>
          <a:xfrm>
            <a:off x="5960977" y="690514"/>
            <a:ext cx="897023" cy="1027581"/>
          </a:xfrm>
          <a:custGeom>
            <a:avLst/>
            <a:gdLst>
              <a:gd name="connsiteX0" fmla="*/ 0 w 993422"/>
              <a:gd name="connsiteY0" fmla="*/ 0 h 2788355"/>
              <a:gd name="connsiteX1" fmla="*/ 778933 w 993422"/>
              <a:gd name="connsiteY1" fmla="*/ 598311 h 2788355"/>
              <a:gd name="connsiteX2" fmla="*/ 970844 w 993422"/>
              <a:gd name="connsiteY2" fmla="*/ 1682044 h 2788355"/>
              <a:gd name="connsiteX3" fmla="*/ 982133 w 993422"/>
              <a:gd name="connsiteY3" fmla="*/ 2788355 h 27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422" h="2788355">
                <a:moveTo>
                  <a:pt x="0" y="0"/>
                </a:moveTo>
                <a:cubicBezTo>
                  <a:pt x="308563" y="158985"/>
                  <a:pt x="617126" y="317970"/>
                  <a:pt x="778933" y="598311"/>
                </a:cubicBezTo>
                <a:cubicBezTo>
                  <a:pt x="940740" y="878652"/>
                  <a:pt x="936977" y="1317037"/>
                  <a:pt x="970844" y="1682044"/>
                </a:cubicBezTo>
                <a:cubicBezTo>
                  <a:pt x="1004711" y="2047051"/>
                  <a:pt x="993422" y="2417703"/>
                  <a:pt x="982133" y="2788355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6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846C-C5ED-FAEB-D6E4-CD5E43160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สรุป</a:t>
            </a: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60881-6789-B546-466B-C61476452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แนะนำ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Virtual Machine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เงื่อนไขของ</a:t>
            </a:r>
            <a:r>
              <a:rPr lang="th-TH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การทำ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Processor Virtualization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Processor Virtualization</a:t>
            </a:r>
          </a:p>
          <a:p>
            <a:endParaRPr lang="en-US" dirty="0"/>
          </a:p>
          <a:p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1462038062"/>
      </p:ext>
    </p:extLst>
  </p:cSld>
  <p:clrMapOvr>
    <a:masterClrMapping/>
  </p:clrMapOvr>
</p:sld>
</file>

<file path=ppt/theme/theme1.xml><?xml version="1.0" encoding="utf-8"?>
<a:theme xmlns:a="http://schemas.openxmlformats.org/drawingml/2006/main" name="vasabi-template-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vasabi-template-01</Template>
  <TotalTime>10274</TotalTime>
  <Words>5336</Words>
  <Application>Microsoft Macintosh PowerPoint</Application>
  <PresentationFormat>On-screen Show (4:3)</PresentationFormat>
  <Paragraphs>759</Paragraphs>
  <Slides>74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MS UI Gothic</vt:lpstr>
      <vt:lpstr>Arial</vt:lpstr>
      <vt:lpstr>Arial Black</vt:lpstr>
      <vt:lpstr>Arial Rounded MT Bold</vt:lpstr>
      <vt:lpstr>Calibri</vt:lpstr>
      <vt:lpstr>Dreaming Outloud Pro</vt:lpstr>
      <vt:lpstr>TH SarabunPSK</vt:lpstr>
      <vt:lpstr>Times New Roman</vt:lpstr>
      <vt:lpstr>vasabi-template-01</vt:lpstr>
      <vt:lpstr>Custom Design</vt:lpstr>
      <vt:lpstr>CS223  Lecture 03: System Virtual Machines -- CPU Virtualization</vt:lpstr>
      <vt:lpstr>Trends: CPUs for Cloud Data Center</vt:lpstr>
      <vt:lpstr>Outline</vt:lpstr>
      <vt:lpstr>VMM</vt:lpstr>
      <vt:lpstr>VMM</vt:lpstr>
      <vt:lpstr>Usages</vt:lpstr>
      <vt:lpstr>Usages</vt:lpstr>
      <vt:lpstr>Usages</vt:lpstr>
      <vt:lpstr>Single System Illusion</vt:lpstr>
      <vt:lpstr>State Management</vt:lpstr>
      <vt:lpstr>State  Indirection</vt:lpstr>
      <vt:lpstr>State  Copying</vt:lpstr>
      <vt:lpstr>Resource  Control</vt:lpstr>
      <vt:lpstr>Resource  Control</vt:lpstr>
      <vt:lpstr>Native vs. Hosted VMs</vt:lpstr>
      <vt:lpstr>Native vs. Hosted VM</vt:lpstr>
      <vt:lpstr>IBM system 360 and 370</vt:lpstr>
      <vt:lpstr>ทบทวนการทำงานของ  ระบบคอมพิวเตอร์แบบ Multiprogramming:  OS, CPU, Interrupts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Traps v.s. Interrupts</vt:lpstr>
      <vt:lpstr>PowerPoint Presentation</vt:lpstr>
      <vt:lpstr>PowerPoint Presentation</vt:lpstr>
      <vt:lpstr>CPU Privilege Levels </vt:lpstr>
      <vt:lpstr>PowerPoint Presentation</vt:lpstr>
      <vt:lpstr>PowerPoint Presentation</vt:lpstr>
      <vt:lpstr>CPU Virtualization</vt:lpstr>
      <vt:lpstr>Processor Virtualization</vt:lpstr>
      <vt:lpstr>Processor Virtualization</vt:lpstr>
      <vt:lpstr>Conditions for ISA Virtualization</vt:lpstr>
      <vt:lpstr>Privilege Instructions</vt:lpstr>
      <vt:lpstr>VMM operation</vt:lpstr>
      <vt:lpstr>VMM operation</vt:lpstr>
      <vt:lpstr>Component of VMM</vt:lpstr>
      <vt:lpstr>Trap Handler of VMM</vt:lpstr>
      <vt:lpstr>Critical Instructions</vt:lpstr>
      <vt:lpstr>Instruction Comparisons</vt:lpstr>
      <vt:lpstr>Virtualization Requirements</vt:lpstr>
      <vt:lpstr>Virtualization Requirements</vt:lpstr>
      <vt:lpstr>Theorem 1: Efficient VMM</vt:lpstr>
      <vt:lpstr>Example 1: Running LPSW</vt:lpstr>
      <vt:lpstr>Example 2: Running SPT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Theorem 2: Recursive virtualization</vt:lpstr>
      <vt:lpstr>Recursive virtualization</vt:lpstr>
      <vt:lpstr>Handling of critical instructions</vt:lpstr>
      <vt:lpstr>Handling of critical instructions</vt:lpstr>
      <vt:lpstr>Guest OS Patching</vt:lpstr>
      <vt:lpstr>Code caching</vt:lpstr>
      <vt:lpstr>Code caching</vt:lpstr>
      <vt:lpstr>Code caching</vt:lpstr>
      <vt:lpstr>Code caching</vt:lpstr>
      <vt:lpstr>Code caching</vt:lpstr>
      <vt:lpstr>PowerPoint Presentation</vt:lpstr>
      <vt:lpstr>สรุป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kani</dc:creator>
  <cp:lastModifiedBy>Kasidit  Chanchio</cp:lastModifiedBy>
  <cp:revision>229</cp:revision>
  <dcterms:created xsi:type="dcterms:W3CDTF">2012-11-08T02:38:04Z</dcterms:created>
  <dcterms:modified xsi:type="dcterms:W3CDTF">2025-08-19T05:48:43Z</dcterms:modified>
</cp:coreProperties>
</file>